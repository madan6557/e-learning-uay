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PANDUAN PRESENTER (SLIDE 1):</a:t>
            </a:r>
          </a:p>
          <a:p>
            <a:r>
              <a:t>- Buka rapat dengan menjelaskan tujuan sesi: Menyepakati desain teknis E-Learning UAY V2.0 sebelum tim developer menulis kode.</a:t>
            </a:r>
          </a:p>
          <a:p>
            <a:r>
              <a:t>- Tekankan bahwa dokumen ini bukan hanya untuk Developer, melainkan dirancang agar mudah dipahami bersama oleh PO, QA, dan Teknisi Server.</a:t>
            </a:r>
          </a:p>
          <a:p>
            <a:r>
              <a:t>- Tegaskan status dokumen: 'Ready for Review' untuk mengumpulkan masukan dan mencapai kesepakatan bersama.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PANDUAN PRESENTER (SLIDE 2):</a:t>
            </a:r>
          </a:p>
          <a:p>
            <a:r>
              <a:t>- Jelaskan ke PO &amp; Server: Pembagian 3 layanan mandiri memastikan server E-Learning tetap ringan dan tidak kehabisan storage.</a:t>
            </a:r>
          </a:p>
          <a:p>
            <a:r>
              <a:t>- Jelaskan ke Dev: Integrasi menggunakan standar OIDC PKCE dan ticket-based presigned URL.</a:t>
            </a:r>
          </a:p>
          <a:p>
            <a:r>
              <a:t>- Jelaskan ke QA: Pastikan skenario ketika File Service atau SSO lambat memiliki circuit breaker fallback yang aman.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PANDUAN PRESENTER (SLIDE 3):</a:t>
            </a:r>
          </a:p>
          <a:p>
            <a:r>
              <a:t>- Fokus PO: Penegasan batasan hak akses sesuai peraturan akademik UAY.</a:t>
            </a:r>
          </a:p>
          <a:p>
            <a:r>
              <a:t>- Fokus Dev: Otorisasi di-enforce di middleware level baris data (Row-Level Authorization).</a:t>
            </a:r>
          </a:p>
          <a:p>
            <a:r>
              <a:t>- Fokus QA: Nilai draft wajib diuji agar tidak bocor lewat response API JSON sebelum tombol publish ditekan.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PANDUAN PRESENTER (SLIDE 4):</a:t>
            </a:r>
          </a:p>
          <a:p>
            <a:r>
              <a:t>- Jelaskan solusi atas masalah klasik: 'Bagaimana jika mahasiswa diskorsing/dinonaktifkan saat sedang login?'</a:t>
            </a:r>
          </a:p>
          <a:p>
            <a:r>
              <a:t>- Tunjukkan 3 lapis perlindungan: Klaim JWT (Lapis 1), Masa berlaku 15 menit (Lapis 2), dan Pemutusan instan via Redis Blacklist (Lapis 3).</a:t>
            </a:r>
          </a:p>
          <a:p>
            <a:r>
              <a:t>- Yakinkan PO bahwa tidak ada celah akun nonaktif tetap bisa membuka materi atau ujian.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PANDUAN PRESENTER (SLIDE 5):</a:t>
            </a:r>
          </a:p>
          <a:p>
            <a:r>
              <a:t>- Tunjukkan bahwa pengalaman menyusun materi dibuat modern setara Notion atau Canvas modern.</a:t>
            </a:r>
          </a:p>
          <a:p>
            <a:r>
              <a:t>- Jelaskan ke Dev: Struktur disimpan sebagai JSON terstruktur di kolom dynamicPayload JSONB PostgreSQL.</a:t>
            </a:r>
          </a:p>
          <a:p>
            <a:r>
              <a:t>- Jelaskan ke QA: Pengujian input kode program, rumus LaTeX, dan sanitasi tag script berbahaya (XSS).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PANDUAN PRESENTER (SLIDE 6):</a:t>
            </a:r>
          </a:p>
          <a:p>
            <a:r>
              <a:t>- Soroti ke PO: Masalah mahasiswa yang curang melompati video atau langsung klik halaman terakhir PDF berhasil dicegah tuntas dengan mekanisme ini.</a:t>
            </a:r>
          </a:p>
          <a:p>
            <a:r>
              <a:t>- Jelaskan ke Dev: Video menggunakan transaksi serializable; Slide menggunakan array JSONB viewedPages.</a:t>
            </a:r>
          </a:p>
          <a:p>
            <a:r>
              <a:t>- Jelaskan ke QA: Uji kasus multi-tab bersamaan dan manipulasi array halaman palsu.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PANDUAN PRESENTER (SLIDE 7):</a:t>
            </a:r>
          </a:p>
          <a:p>
            <a:r>
              <a:t>- Jelaskan ke PO: Kuis di platform ini sangat lengkap, mendukung 8 model soal mulai dari teori cepat hingga responsi praktikum sains/teknik.</a:t>
            </a:r>
          </a:p>
          <a:p>
            <a:r>
              <a:t>- Tekankan fitur autosave 3 detik: Mahasiswa tidak akan panik jika koneksi Wi-Fi kampus tiba-tiba drop saat ujian.</a:t>
            </a:r>
          </a:p>
          <a:p>
            <a:r>
              <a:t>- Jelaskan ke Dev: Seluruh enum QuestionType sudah didefinisikan dalam skema Prisma PostgreSQL.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PANDUAN PRESENTER (SLIDE 8):</a:t>
            </a:r>
          </a:p>
          <a:p>
            <a:r>
              <a:t>- Jelaskan ke PO: Seringkali dosen ingin soal nomor 1 lebih berbobot dari nomor 2, tapi khawatir total nilainya tidak genap 100.</a:t>
            </a:r>
          </a:p>
          <a:p>
            <a:r>
              <a:t>- Tunjukkan bahwa sistem menyelesaikan masalah tersebut dengan 2 mode: Validasi Ketat 100 Poin atau Normalisasi Otomatis ke Skala 100.</a:t>
            </a:r>
          </a:p>
          <a:p>
            <a:r>
              <a:t>- Jelaskan ke QA: Uji skenario pembagian poin ganjil (misal 3 soal = 33.33 poin) dan pastikan formula normalisasi bekerja presisi.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PANDUAN PRESENTER (SLIDE 9):</a:t>
            </a:r>
          </a:p>
          <a:p>
            <a:r>
              <a:t>- Jelaskan ke PO: Kuis campuran (pilihan ganda + essay) ditangani secara elegan. Mahasiswa langsung tahu nilai objektifnya, dan essay masuk antrean dosen.</a:t>
            </a:r>
          </a:p>
          <a:p>
            <a:r>
              <a:t>- Tunjukkan ke Dosen: Fitur 'Batch Grading by Question' adalah favorit pengajar karena mengoreksi 40 essay nomor 1 sekaligus jauh lebih cepat.</a:t>
            </a:r>
          </a:p>
          <a:p>
            <a:r>
              <a:t>- Jelaskan ke QA: Uji transisi status attempt dari IN_PROGRESS -&gt; SUBMITTED -&gt; NEEDS_GRADING -&gt; GRADED_COMPLETE -&gt; RESULTS_PUBLISHED.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PANDUAN PRESENTER (SLIDE 10):</a:t>
            </a:r>
          </a:p>
          <a:p>
            <a:r>
              <a:t>- Poin Kunci untuk PO: Mengeliminasi beban administrasi dosen yang selama ini harus menghitung rumus Excel rumit secara manual.</a:t>
            </a:r>
          </a:p>
          <a:p>
            <a:r>
              <a:t>- Sistem menghitung nilai akhir terbobot dan mengonversinya langsung ke Nilai Huruf dan Indeks Prestasi sesuai statuta akademik UAY.</a:t>
            </a:r>
          </a:p>
          <a:p>
            <a:r>
              <a:t>- Jelaskan ke Dev: Didukung model relasional GradeCategory dan FinalGradeRecord di Prisma.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PANDUAN PRESENTER (SLIDE 11):</a:t>
            </a:r>
          </a:p>
          <a:p>
            <a:r>
              <a:t>- Jelaskan ke PO &amp; Admin Prodi: Input data berulang (seperti ratusan soal ujian atau ratusan mahasiswa baru) tidak perlu diketik manual.</a:t>
            </a:r>
          </a:p>
          <a:p>
            <a:r>
              <a:t>- Soroti fitur 'Tabel Validasi Pra-Import': Jika ada baris salah format, sistem menampilkan baris merah dan menjelaskan letak kesalahannya.</a:t>
            </a:r>
          </a:p>
          <a:p>
            <a:r>
              <a:t>- Jelaskan ke QA: Uji file corrupt, format kolom terbalik, dan karakter khusus UTF-8.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PANDUAN PRESENTER (SLIDE 12):</a:t>
            </a:r>
          </a:p>
          <a:p>
            <a:r>
              <a:t>- Jelaskan ke PO: Ini adalah fitur penenang bagi pengajar. Tidak ada lagi keluhan 'Materi saya yang sudah diketik 2 jam hilang karena mati lampu'.</a:t>
            </a:r>
          </a:p>
          <a:p>
            <a:r>
              <a:t>- Jelaskan ke Sysadmin &amp; Dev: Penyimpanan di browser dikendalikan ketat (maksimal 15 MB dan TTL 14 hari) menggunakan IndexedDB asinkronus.</a:t>
            </a:r>
          </a:p>
          <a:p>
            <a:r>
              <a:t>- Jelaskan ke QA: Uji skenario browser dimatikan paksa saat sedang mengetik, lalu buka kembali untuk verifikasi banner pemulihan.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PANDUAN PRESENTER (SLIDE 13):</a:t>
            </a:r>
          </a:p>
          <a:p>
            <a:r>
              <a:t>- Jelaskan ke PO: Pengalaman pengguna dibuat sangat jelas. Jika ada aksi yang diblokir, sistem wajib memberi tahu alasannya secara transparan.</a:t>
            </a:r>
          </a:p>
          <a:p>
            <a:r>
              <a:t>- Soroti Audit Log Before-After: Fitur keamanan kelas institusi. Tidak ada lagi sengketa dosen mengubah nilai di belakang layar tanpa alasan tercatat.</a:t>
            </a:r>
          </a:p>
          <a:p>
            <a:r>
              <a:t>- Jelaskan ke QA: Pastikan setiap mutasi nilai memverifikasi keberadaan data beforeState dan afterState di tabel AuditLog.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PANDUAN PRESENTER (SLIDE 14):</a:t>
            </a:r>
          </a:p>
          <a:p>
            <a:r>
              <a:t>- Jelaskan ke Developer: Struktur kode rapi dan berstandar internasional (100% English), mempermudah integrasi tools, linter, dan AI coding assistant.</a:t>
            </a:r>
          </a:p>
          <a:p>
            <a:r>
              <a:t>- Jelaskan ke Sysadmin &amp; DBA: Skema PostgreSQL menggunakan Prisma ORM dengan relasi cascade dan indeks optimal pada query pencarian kelas dan pengguna.</a:t>
            </a:r>
          </a:p>
          <a:p>
            <a:r>
              <a:t>- Jelaskan ke PO: Tampilan untuk mahasiswa dan dosen tetap 100% Bahasa Indonesia yang ramah.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PANDUAN PRESENTER (SLIDE 15):</a:t>
            </a:r>
          </a:p>
          <a:p>
            <a:r>
              <a:t>- Fokus ke Teknisi Server / DevOps: Seluruh berkas konfigurasi Docker, Nginx, dan .env sudah dibuatkan dan siap dijalankan.</a:t>
            </a:r>
          </a:p>
          <a:p>
            <a:r>
              <a:t>- Jelaskan perbedaan Live Development (staging) vs Production VPS.</a:t>
            </a:r>
          </a:p>
          <a:p>
            <a:r>
              <a:t>- Tekankan kemudahan: Cukup satu perintah 'docker compose up -d' seluruh sistem langsung aktif.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PANDUAN PRESENTER (SLIDE 16):</a:t>
            </a:r>
          </a:p>
          <a:p>
            <a:r>
              <a:t>- Tutup presentasi dengan merangkum estimasi waktu pengembangan (Total ~17 hari kerja menuju rilis pilot).</a:t>
            </a:r>
          </a:p>
          <a:p>
            <a:r>
              <a:t>- Buka sesi tanya jawab terstruktur: Mulai dari Product Owner, lalu Developer, QA, dan diakhiri Teknisi Server.</a:t>
            </a:r>
          </a:p>
          <a:p>
            <a:r>
              <a:t>- Minta persetujuan resmi (Sign-off) dari Product Owner untuk melanjutkan ke fase eksekusi 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09728" cy="457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0972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93C5FD"/>
                </a:solidFill>
              </a:defRPr>
            </a:pPr>
            <a:r>
              <a:t>PLATFORM DIGITAL UNIVERSITAS ACHMAD YANI (UAY)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Proposal Desain Teknis E-Learning UAY</a:t>
            </a:r>
          </a:p>
          <a:p>
            <a:pPr>
              <a:spcAft>
                <a:spcPts val="2200"/>
              </a:spcAft>
              <a:defRPr sz="1800" b="1">
                <a:solidFill>
                  <a:srgbClr val="BFDBFE"/>
                </a:solidFill>
              </a:defRPr>
            </a:pPr>
            <a:r>
              <a:t>Versi 2.0 • Fondasi Arsitektur Bersih, Modular, &amp; Terintegrasi Penuh</a:t>
            </a:r>
          </a:p>
          <a:p>
            <a:pPr>
              <a:spcAft>
                <a:spcPts val="3000"/>
              </a:spcAft>
              <a:defRPr sz="1300">
                <a:solidFill>
                  <a:srgbClr val="CBD5E1"/>
                </a:solidFill>
              </a:defRPr>
            </a:pPr>
            <a:r>
              <a:t>Mendukung Perkuliahan Teori, Praktikum Lab Dinamis, Pelacakan Progres Granular, Pembobotan Nilai Otomatis, dan Jejak Audit Before-After State</a:t>
            </a:r>
          </a:p>
          <a:p>
            <a:pPr>
              <a:defRPr sz="1150" b="1">
                <a:solidFill>
                  <a:srgbClr val="FBBF24"/>
                </a:solidFill>
              </a:defRPr>
            </a:pPr>
            <a:r>
              <a:t>STATUS DOKUMEN: DRAFT PROPOSAL — READY FOR REVIEW (PO, DEV, QA, &amp; TEKNISI SERVER)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1: GAMBARAN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Ekosistem Tiga Aplikasi &amp; Batas Tanggung Jawab (Service Boundaries)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02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375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1. SSO / Identity Service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Kepemilikan Data: </a:t>
            </a:r>
            <a:r>
              <a:rPr>
                <a:solidFill>
                  <a:srgbClr val="334155"/>
                </a:solidFill>
              </a:rPr>
              <a:t>Kredensial login, hash kata sandi, status akun (Active/Disabled), dan peran institusi.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Protokol Standar: </a:t>
            </a:r>
            <a:r>
              <a:rPr>
                <a:solidFill>
                  <a:srgbClr val="334155"/>
                </a:solidFill>
              </a:rPr>
              <a:t>OpenID Connect (OIDC) Authorization Code Flow + PKCE.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Prinsip Utama: </a:t>
            </a:r>
            <a:r>
              <a:rPr>
                <a:solidFill>
                  <a:srgbClr val="334155"/>
                </a:solidFill>
              </a:rPr>
              <a:t>E-Learning TIDAK menyimpan password. Hanya mereferensikan immutable Subject UUID.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Fitur Kunci: </a:t>
            </a:r>
            <a:r>
              <a:rPr>
                <a:solidFill>
                  <a:srgbClr val="334155"/>
                </a:solidFill>
              </a:rPr>
              <a:t>Single Sign-On, Single Logout, dan First-time password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2. E-Learning Core Engine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Kepemilikan Data: </a:t>
            </a:r>
            <a:r>
              <a:rPr>
                <a:solidFill>
                  <a:srgbClr val="334155"/>
                </a:solidFill>
              </a:rPr>
              <a:t>Katalog mata kuliah (Course), rombel kelas (CourseClass), sesi pertemuan (Section), materi, kuis, tugas, dan nilai.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Prinsip Zero-Binary: </a:t>
            </a:r>
            <a:r>
              <a:rPr>
                <a:solidFill>
                  <a:srgbClr val="334155"/>
                </a:solidFill>
              </a:rPr>
              <a:t>Tidak menyimpan file binary fisik di storage lokal E-Learning.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Logika Akademik: </a:t>
            </a:r>
            <a:r>
              <a:rPr>
                <a:solidFill>
                  <a:srgbClr val="334155"/>
                </a:solidFill>
              </a:rPr>
              <a:t>Kalkulasi nilai otomatis, rubrik essay, peracikan bank soal, pelacakan video/slide, dan audit log.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Integrasi: </a:t>
            </a:r>
            <a:r>
              <a:rPr>
                <a:solidFill>
                  <a:srgbClr val="334155"/>
                </a:solidFill>
              </a:rPr>
              <a:t>Berkomunikasi via token JWT SSO dan tiket presigned File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3375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3. File Service &amp; Storage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Kepemilikan Data: </a:t>
            </a:r>
            <a:r>
              <a:rPr>
                <a:solidFill>
                  <a:srgbClr val="334155"/>
                </a:solidFill>
              </a:rPr>
              <a:t>Objek binary fisik di S3/MinIO, metadata checksum SHA-256, MIME type, dan pemindaian antivirus.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Akses Aman: </a:t>
            </a:r>
            <a:r>
              <a:rPr>
                <a:solidFill>
                  <a:srgbClr val="334155"/>
                </a:solidFill>
              </a:rPr>
              <a:t>Direct upload via Presigned URL; unduh via Signed Download Ticket (TTL 15 menit).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Siklus Sampah 7 Hari: </a:t>
            </a:r>
            <a:r>
              <a:rPr>
                <a:solidFill>
                  <a:srgbClr val="334155"/>
                </a:solidFill>
              </a:rPr>
              <a:t>File yang dihapus masuk status TRASH selama 7 hari sebelum purge permanen.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Batas Ukuran: </a:t>
            </a:r>
            <a:r>
              <a:rPr>
                <a:solidFill>
                  <a:srgbClr val="334155"/>
                </a:solidFill>
              </a:rPr>
              <a:t>Cover: 5 MB, Dokumen: 20-50 MB, Video: Utamakan Embed / Lokal 100 MB.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1 &amp; BAB 5: OTORISASI &amp; HAK AKSES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Aktor Sistem &amp; Pemisahan Wewenang Berbasis Kelas (Row-Level Security)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03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2331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Super Admin &amp; Admin Prodi/Lab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Super Admin (Global): </a:t>
            </a:r>
            <a:r>
              <a:rPr>
                <a:solidFill>
                  <a:srgbClr val="334155"/>
                </a:solidFill>
              </a:rPr>
              <a:t>Manajemen platform menyeluruh, audit log institusi, konfigurasi sistem, dan darurat.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Admin Prodi / Lab: </a:t>
            </a:r>
            <a:r>
              <a:rPr>
                <a:solidFill>
                  <a:srgbClr val="334155"/>
                </a:solidFill>
              </a:rPr>
              <a:t>Membuat mata kuliah induk (Course), membuka kelas rombel (CourseClass), menetapkan dosen pengampu, dan import mahasiswa massal.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Batas Kewenangan: </a:t>
            </a:r>
            <a:r>
              <a:rPr>
                <a:solidFill>
                  <a:srgbClr val="334155"/>
                </a:solidFill>
              </a:rPr>
              <a:t>Admin Prodi hanya mengelola prodi/laboratorium dalam kewenangannya.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2331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Pengajar / Dosen / Asisten Lab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Kelas yang Ditugaskan: </a:t>
            </a:r>
            <a:r>
              <a:rPr>
                <a:solidFill>
                  <a:srgbClr val="334155"/>
                </a:solidFill>
              </a:rPr>
              <a:t>Hanya memiliki izin mutasi pada kelas di mana dosen terdaftar sebagai ClassInstructor.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Penyusunan Materi: </a:t>
            </a:r>
            <a:r>
              <a:rPr>
                <a:solidFill>
                  <a:srgbClr val="334155"/>
                </a:solidFill>
              </a:rPr>
              <a:t>Menyusun section perkuliahan &amp; praktikum, mengunggah materi blok, membuat bank soal, dan tugas.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Manajemen Nilai: </a:t>
            </a:r>
            <a:r>
              <a:rPr>
                <a:solidFill>
                  <a:srgbClr val="334155"/>
                </a:solidFill>
              </a:rPr>
              <a:t>Mengatur bobot nilai, menilai essay, menyimpan draft nilai, dan mempublikasikan Gradebook.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166360" cy="22402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Mahasiswa / Peserta Pembelajaran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Ruang Lingkup Terdaftar: </a:t>
            </a:r>
            <a:r>
              <a:rPr>
                <a:solidFill>
                  <a:srgbClr val="334155"/>
                </a:solidFill>
              </a:rPr>
              <a:t>Hanya dapat mengakses kelas di mana mahasiswa aktif terdaftar (Enrollment).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Aktivitas Pembelajaran: </a:t>
            </a:r>
            <a:r>
              <a:rPr>
                <a:solidFill>
                  <a:srgbClr val="334155"/>
                </a:solidFill>
              </a:rPr>
              <a:t>Mempelajari materi teks/slide/video, mengunduh dataset lab, mengerjakan kuis, submit tugas berversi.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Transparansi Progres: </a:t>
            </a:r>
            <a:r>
              <a:rPr>
                <a:solidFill>
                  <a:srgbClr val="334155"/>
                </a:solidFill>
              </a:rPr>
              <a:t>Memantau progres belajar mandiri dan melihat nilai yang telah dipublikasikan resmi.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4069080"/>
            <a:ext cx="5166360" cy="224028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B45309"/>
                </a:solidFill>
              </a:defRPr>
            </a:pPr>
            <a:r>
              <a:t>Aturan Proteksi Data Kunci (RLS)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Isolasi Nilai Draft: </a:t>
            </a:r>
            <a:r>
              <a:rPr>
                <a:solidFill>
                  <a:srgbClr val="334155"/>
                </a:solidFill>
              </a:rPr>
              <a:t>Nilai berstatus Draft tidak pernah terkirim ke klien mahasiswa sebelum resmi di-Publish.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Isolasi Berkas Privat: </a:t>
            </a:r>
            <a:r>
              <a:rPr>
                <a:solidFill>
                  <a:srgbClr val="334155"/>
                </a:solidFill>
              </a:rPr>
              <a:t>URL file submission mahasiswa lain dilarang keras di-generate oleh mahasiswa biasa.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Kelas Diarsipkan (Archived): </a:t>
            </a:r>
            <a:r>
              <a:rPr>
                <a:solidFill>
                  <a:srgbClr val="334155"/>
                </a:solidFill>
              </a:rPr>
              <a:t>Kelas semester lalu otomatis terkunci menjadi Read-Only.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2: ARSITEKTUR &amp; KEAMANAN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Integrasi SSO OIDC &amp; Strategi Perlindungan Status Akun 3-Lapis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04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Alur Otentikasi OIDC + PKCE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Standar Industri: </a:t>
            </a:r>
            <a:r>
              <a:rPr>
                <a:solidFill>
                  <a:srgbClr val="334155"/>
                </a:solidFill>
              </a:rPr>
              <a:t>Authorization Code Flow dengan Proof Key for Code Exchange (PKCE) untuk keamanan web SPA modern.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Token Validation Claims: </a:t>
            </a:r>
            <a:r>
              <a:rPr>
                <a:solidFill>
                  <a:srgbClr val="334155"/>
                </a:solidFill>
              </a:rPr>
              <a:t>Backend E-Learning memvalidasi iss (sso.uay.ac.id), aud (elearning-uay), sub (UUID), dan exp.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Cookie Aman: </a:t>
            </a:r>
            <a:r>
              <a:rPr>
                <a:solidFill>
                  <a:srgbClr val="334155"/>
                </a:solidFill>
              </a:rPr>
              <a:t>Menyimpan session token di browser menggunakan HttpOnly, Secure, SameSite=Lax Cookie (mencegah XSS).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Local User Sync: </a:t>
            </a:r>
            <a:r>
              <a:rPr>
                <a:solidFill>
                  <a:srgbClr val="334155"/>
                </a:solidFill>
              </a:rPr>
              <a:t>Menyalin profil dasar (NIM/NIDN, Nama, Email) saat login untuk performa query lokal yang cepat.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Sistem Perlindungan Status Akun (3 Lapis)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Lapis 1: Klaim Token Instan: </a:t>
            </a:r>
            <a:r>
              <a:rPr>
                <a:solidFill>
                  <a:srgbClr val="334155"/>
                </a:solidFill>
              </a:rPr>
              <a:t>Token JWT memuat klaim account_status: 'ACTIVE'. Jika 'SUSPENDED' atau 'DISABLED', middleware langsung menolak akses (HTTP 403) secara stateless.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Lapis 2: Short-Lived 15m Token TTL: </a:t>
            </a:r>
            <a:r>
              <a:rPr>
                <a:solidFill>
                  <a:srgbClr val="334155"/>
                </a:solidFill>
              </a:rPr>
              <a:t>Access Token dibatasi berumur 15 menit. Setiap perpanjangan via Refresh Token mewajibkan verifikasi status aktif langsung ke database SSO.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Lapis 3: Real-Time Revocation via Redis: </a:t>
            </a:r>
            <a:r>
              <a:rPr>
                <a:solidFill>
                  <a:srgbClr val="334155"/>
                </a:solidFill>
              </a:rPr>
              <a:t>Saat Admin menonaktifkan akun di portal SSO, SSO mengirim event webhook/Redis pub-sub. E-Learning seketika mem-blacklist userId di Redis. Pengguna terputus detik itu juga tanpa menunggu token 15 menit habis!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Pesan Blocker Jelas: </a:t>
            </a:r>
            <a:r>
              <a:rPr>
                <a:solidFill>
                  <a:srgbClr val="334155"/>
                </a:solidFill>
              </a:rPr>
              <a:t>Menampilkan callout eksplisit: 'Akun Anda dinonaktifkan oleh administrator institusi. Silakan hubungi bagian akademik.'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&amp; 4: MANAJEMEN MATERI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Dynamic Resource Engine: Sistem Editor Berbasis Blok (Gaya Notion)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05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Arsitektur Konten Blok Modular (JSON AST)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Mengapa Berbasis Blok?: </a:t>
            </a:r>
            <a:r>
              <a:rPr>
                <a:solidFill>
                  <a:srgbClr val="334155"/>
                </a:solidFill>
              </a:rPr>
              <a:t>Menggantikan teks statis HTML monolitik. Materi disusun atas array blok terstruktur (blocks: ContentBlock[]) yang modular.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Interaksi Modern Dosen: </a:t>
            </a:r>
            <a:r>
              <a:rPr>
                <a:solidFill>
                  <a:srgbClr val="334155"/>
                </a:solidFill>
              </a:rPr>
              <a:t>Menu perintah kilat Slash Command Menu (/), drag-and-drop handles 6-titik, dan duplikasi blok instan.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Dukungan Praktikum Lab: </a:t>
            </a:r>
            <a:r>
              <a:rPr>
                <a:solidFill>
                  <a:srgbClr val="334155"/>
                </a:solidFill>
              </a:rPr>
              <a:t>Memfasilitasi modul perkuliahan teori, repositori kode, lembar kerja praktikum (LKP), dan simulator virtual lab.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Sanitasi Keamanan Anti-XSS: </a:t>
            </a:r>
            <a:r>
              <a:rPr>
                <a:solidFill>
                  <a:srgbClr val="334155"/>
                </a:solidFill>
              </a:rPr>
              <a:t>Seluruh blok disaring ketat dengan DOMPurify dan validasi skema runtime Zod di backend.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11 Tipe Blok yang Didukung Lengkap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paragraph &amp; heading: </a:t>
            </a:r>
            <a:r>
              <a:rPr>
                <a:solidFill>
                  <a:srgbClr val="334155"/>
                </a:solidFill>
              </a:rPr>
              <a:t>Teks kaya inline (Tebal, Miring, Tautan, Warna) dan Heading H1/H2/H3 dengan anchor link otomatis.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image &amp; file_attachment: </a:t>
            </a:r>
            <a:r>
              <a:rPr>
                <a:solidFill>
                  <a:srgbClr val="334155"/>
                </a:solidFill>
              </a:rPr>
              <a:t>Unggah gambar via paste (Ctrl+V) / drag-and-drop terhubung ke File Service; kartu berkas lampiran dengan download counter.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code_snippet: </a:t>
            </a:r>
            <a:r>
              <a:rPr>
                <a:solidFill>
                  <a:srgbClr val="334155"/>
                </a:solidFill>
              </a:rPr>
              <a:t>Penyorotan sintaks (syntax highlight) untuk 30+ bahasa pemrograman, nomor baris, dan tombol Copy-to-Clipboard.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math_latex: </a:t>
            </a:r>
            <a:r>
              <a:rPr>
                <a:solidFill>
                  <a:srgbClr val="334155"/>
                </a:solidFill>
              </a:rPr>
              <a:t>Persamaan rumus matematika/sains kompleks berbasis KaTeX ($$ \int f(x)dx $$).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callout &amp; checklist: </a:t>
            </a:r>
            <a:r>
              <a:rPr>
                <a:solidFill>
                  <a:srgbClr val="334155"/>
                </a:solidFill>
              </a:rPr>
              <a:t>Kotak peringatan berikon emoji (NOTE, TIP, IMPORTANT, WARNING) dan daftar todo list interaktif tahapan praktikum.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table, embed_media, divider: </a:t>
            </a:r>
            <a:r>
              <a:rPr>
                <a:solidFill>
                  <a:srgbClr val="334155"/>
                </a:solidFill>
              </a:rPr>
              <a:t>Tabel baris/kolom responsif, embed YouTube/Simulator, dan garis pemisah subtopik.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3: MESIN PROGRES BELAJAR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Pelacakan Progres Granular: Video Anti-Skip &amp; Slide Halaman Unik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06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375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1. Video Tracking Anti-Skip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Metrik Presisi: </a:t>
            </a:r>
            <a:r>
              <a:rPr>
                <a:solidFill>
                  <a:srgbClr val="334155"/>
                </a:solidFill>
              </a:rPr>
              <a:t>Mencatat watchedSeconds, lastPositionSeconds, dan percentCompleted.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Prinsip Monotonic Increase: </a:t>
            </a:r>
            <a:r>
              <a:rPr>
                <a:solidFill>
                  <a:srgbClr val="334155"/>
                </a:solidFill>
              </a:rPr>
              <a:t>Progres tontonan HANYA boleh bertambah, tidak pernah mundur.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Anti Multi-Tab Exploitation: </a:t>
            </a:r>
            <a:r>
              <a:rPr>
                <a:solidFill>
                  <a:srgbClr val="334155"/>
                </a:solidFill>
              </a:rPr>
              <a:t>Menggunakan isolasi transaksi Serializable pada Prisma untuk mencegah manipulasi progres saat video diputar di banyak tab bersamaan.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Heartbeat Periodik: </a:t>
            </a:r>
            <a:r>
              <a:rPr>
                <a:solidFill>
                  <a:srgbClr val="334155"/>
                </a:solidFill>
              </a:rPr>
              <a:t>Sinyal heartbeat dikirim setiap 5 detik dengan mekanisme debounce antrean di Redis.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2. Slide &amp; PDF Page Tracking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Array Halaman Unik: </a:t>
            </a:r>
            <a:r>
              <a:rPr>
                <a:solidFill>
                  <a:srgbClr val="334155"/>
                </a:solidFill>
              </a:rPr>
              <a:t>Menyimpan daftar integer halaman yang benar-benar dibuka: viewedPages: [1, 2, 3, 5].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Cegah Langsung ke Akhir: </a:t>
            </a:r>
            <a:r>
              <a:rPr>
                <a:solidFill>
                  <a:srgbClr val="334155"/>
                </a:solidFill>
              </a:rPr>
              <a:t>Mahasiswa yang melompat dari halaman 1 langsung ke halaman 50 hanya tercatat progres 4% (2/50 halaman).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Formula Akurat: </a:t>
            </a:r>
            <a:r>
              <a:rPr>
                <a:solidFill>
                  <a:srgbClr val="334155"/>
                </a:solidFill>
              </a:rPr>
              <a:t>Persen = (viewedPages.length / totalPages) * 100%.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Validasi Kasus Batas: </a:t>
            </a:r>
            <a:r>
              <a:rPr>
                <a:solidFill>
                  <a:srgbClr val="334155"/>
                </a:solidFill>
              </a:rPr>
              <a:t>Nomor halaman divalidasi ketat: 1 &lt;= page &lt;= totalPages.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3375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3. Download &amp; Agregasi Kelas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Aset Praktikum Lab: </a:t>
            </a:r>
            <a:r>
              <a:rPr>
                <a:solidFill>
                  <a:srgbClr val="334155"/>
                </a:solidFill>
              </a:rPr>
              <a:t>Mencatat event MaterialDownload secara idempotent saat mahasiswa mengunduh dataset CSV/ZIP.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Completion Criteria: </a:t>
            </a:r>
            <a:r>
              <a:rPr>
                <a:solidFill>
                  <a:srgbClr val="334155"/>
                </a:solidFill>
              </a:rPr>
              <a:t>Dosen dapat mengatur kriteria penyelesaian: MIN_WATCH_PERCENT, ALL_PAGES_VIEWED, CONFIRMED_DOWNLOAD.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Agregasi Terbobot: </a:t>
            </a:r>
            <a:r>
              <a:rPr>
                <a:solidFill>
                  <a:srgbClr val="334155"/>
                </a:solidFill>
              </a:rPr>
              <a:t>Sistem mengagregasi progres individu mahasiswa ke dalam capaian rombongan belajar kelas secara real-time.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Transparansi Dosen: </a:t>
            </a:r>
            <a:r>
              <a:rPr>
                <a:solidFill>
                  <a:srgbClr val="334155"/>
                </a:solidFill>
              </a:rPr>
              <a:t>Dosen dapat melihat persentase progres belajar setiap mahasiswa di Gradebook.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&amp; BAB 5: KUIS &amp; EVALUASI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Bank Soal &amp; Rincian Lengkap 8 Tipe Soal Kuis Komprehensif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07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6 Tipe Soal Dinilai Otomatis (Auto-Graded)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SINGLE_CHOICE (Pilihan Ganda): </a:t>
            </a:r>
            <a:r>
              <a:rPr>
                <a:solidFill>
                  <a:srgbClr val="334155"/>
                </a:solidFill>
              </a:rPr>
              <a:t>Memilih 1 opsi benar dari A s.d. E via radio button. Dilengkapi pengacakan urutan opsi.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MULTIPLE_SELECT (Pilihan Jamak): </a:t>
            </a:r>
            <a:r>
              <a:rPr>
                <a:solidFill>
                  <a:srgbClr val="334155"/>
                </a:solidFill>
              </a:rPr>
              <a:t>Memilih &gt;= 1 opsi benar via checkbox. Mendukung mode All-or-Nothing atau Partial Credit proporsional.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TRUE_FALSE (Benar / Salah): </a:t>
            </a:r>
            <a:r>
              <a:rPr>
                <a:solidFill>
                  <a:srgbClr val="334155"/>
                </a:solidFill>
              </a:rPr>
              <a:t>Memilih pernyataan Benar atau Salah secara instan.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SHORT_ANSWER (Isian Singkat / Numerik): </a:t>
            </a:r>
            <a:r>
              <a:rPr>
                <a:solidFill>
                  <a:srgbClr val="334155"/>
                </a:solidFill>
              </a:rPr>
              <a:t>Input kata kunci eksak atau nilai numerik dengan rentang toleransi presisi (misal: 9.8 +/- 0.1).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MATCHING (Menjodohkan Pasangan): </a:t>
            </a:r>
            <a:r>
              <a:rPr>
                <a:solidFill>
                  <a:srgbClr val="334155"/>
                </a:solidFill>
              </a:rPr>
              <a:t>Memasangkan istilah/premis di kolom kiri dengan definisi di kolom kanan via dropdown interaktif.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ORDERING (Mengurutkan Prosedur): </a:t>
            </a:r>
            <a:r>
              <a:rPr>
                <a:solidFill>
                  <a:srgbClr val="334155"/>
                </a:solidFill>
              </a:rPr>
              <a:t>Mengurutkan tahapan praktikum lab, flowchart, atau baris algoritma dengan drag-and-drop.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 Tipe Soal Dinilai Dosen &amp; Fitur Ujian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ESSAY (Uraian Panjang Terformat): </a:t>
            </a:r>
            <a:r>
              <a:rPr>
                <a:solidFill>
                  <a:srgbClr val="334155"/>
                </a:solidFill>
              </a:rPr>
              <a:t>Jawaban teks kaya / formula rumus LaTeX dengan batasan kata, rubrik penilaian dosen, dan catatan feedback.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FILE_UPLOAD (Lembar Kerja / Kode): </a:t>
            </a:r>
            <a:r>
              <a:rPr>
                <a:solidFill>
                  <a:srgbClr val="334155"/>
                </a:solidFill>
              </a:rPr>
              <a:t>Mahasiswa mengunggah foto coretan tangan, laporan analisa PDF, atau skrip kode program praktikum (.py/.cpp).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Bank Soal Mata Kuliah: </a:t>
            </a:r>
            <a:r>
              <a:rPr>
                <a:solidFill>
                  <a:srgbClr val="334155"/>
                </a:solidFill>
              </a:rPr>
              <a:t>Soal tersimpan terpusat di QuestionBank tingkat mata kuliah untuk digunakan berulang di berbagai kelas rombel.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Pengacakan Ganda: </a:t>
            </a:r>
            <a:r>
              <a:rPr>
                <a:solidFill>
                  <a:srgbClr val="334155"/>
                </a:solidFill>
              </a:rPr>
              <a:t>Acak urutan nomor soal (Shuffle Questions) dan acak urutan opsi jawaban (Shuffle Options) untuk mitigasi kecurangan.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Penyimpanan Real-Time 3 Detik: </a:t>
            </a:r>
            <a:r>
              <a:rPr>
                <a:solidFill>
                  <a:srgbClr val="334155"/>
                </a:solidFill>
              </a:rPr>
              <a:t>Setiap jawaban autosave setiap 3 detik. Listrik padam / disconnect tidak menghilangkan jawaban!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3: PEMBOBOTAN KUIS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Pembobotan Kustom Butir Soal &amp; Penjaminan Total Nilai Selalu Skala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08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Kustomisasi Poin Bebas per Butir Soal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Kendali Penuh Dosen: </a:t>
            </a:r>
            <a:r>
              <a:rPr>
                <a:solidFill>
                  <a:srgbClr val="334155"/>
                </a:solidFill>
              </a:rPr>
              <a:t>Dosen bebas memberi bobot poin berbeda pada tiap nomor soal (misal: Soal Analisis Kasus = 40 poin, Soal Teori Ringkas = 15 poin).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Live Points Counter Bar: </a:t>
            </a:r>
            <a:r>
              <a:rPr>
                <a:solidFill>
                  <a:srgbClr val="334155"/>
                </a:solidFill>
              </a:rPr>
              <a:t>Antarmuka editor kuis menampilkan akumulasi poin secara real-time saat dosen mengedit nilai butir soal: 'Total Poin: 75 / 100 — Kurang 25 Poin lagi'.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Tombol Cerdas Bagi Rata: </a:t>
            </a:r>
            <a:r>
              <a:rPr>
                <a:solidFill>
                  <a:srgbClr val="334155"/>
                </a:solidFill>
              </a:rPr>
              <a:t>Disediakan tombol [Auto-Distribute Remaining Points] untuk mendistribusikan sisa poin ke seluruh butir soal secara proporsional dengan 1 klik.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Partial Credit Pilihan Jamak: </a:t>
            </a:r>
            <a:r>
              <a:rPr>
                <a:solidFill>
                  <a:srgbClr val="334155"/>
                </a:solidFill>
              </a:rPr>
              <a:t>Pada soal Multiple Select 20 poin dengan 4 kunci benar, jika mahasiswa memilih 2 benar tanpa salah, sistem otomatis memberi 10.0 poin.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 Mode Penjaminan Nilai Selalu Skala 100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Mode 1: Validasi Ketat 100 Poin: </a:t>
            </a:r>
            <a:r>
              <a:rPr>
                <a:solidFill>
                  <a:srgbClr val="334155"/>
                </a:solidFill>
              </a:rPr>
              <a:t>Total akumulasi seluruh butir soal wajib tepat berjumlah 100.0 (sum of points = 100.0). Kuis diblokir dari publikasi jika total poin belum tepat 100.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Mode 2: Normalisasi Otomatis ke Skala 100: </a:t>
            </a:r>
            <a:r>
              <a:rPr>
                <a:solidFill>
                  <a:srgbClr val="334155"/>
                </a:solidFill>
              </a:rPr>
              <a:t>Jika dosen membuat kuis dengan akumulasi poin mentah selain 100 (misal: 14 soal dengan total akumulasi poin mentah = 70), sistem mengonversi otomatis nilai perolehan mahasiswa ke skala standar 100: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Formula Normalisasi: </a:t>
            </a:r>
            <a:r>
              <a:rPr>
                <a:solidFill>
                  <a:srgbClr val="334155"/>
                </a:solidFill>
              </a:rPr>
              <a:t>Nilai Kuis (0 - 100) = (Total Poin Diperoleh / Total Poin Mentah Soal) * 100.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Hasil Presisi 2 Desimal: </a:t>
            </a:r>
            <a:r>
              <a:rPr>
                <a:solidFill>
                  <a:srgbClr val="334155"/>
                </a:solidFill>
              </a:rPr>
              <a:t>Disimpan rapi dengan pembulatan 2 angka desimal (misal: 88.57) untuk memudahkan integrasi Gradebook.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&amp; 7: PENILAIAN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Alur Penilaian Soal Essay Dosen &amp; Sistem Skoring Hibrida Terpadu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09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Siklus Hidup Attempt Hibrida (State Machine)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Tahap 1: Submit Kuis: </a:t>
            </a:r>
            <a:r>
              <a:rPr>
                <a:solidFill>
                  <a:srgbClr val="334155"/>
                </a:solidFill>
              </a:rPr>
              <a:t>Mahasiswa mengirimkan kuis. Sistem seketika memeriksa seluruh soal objektif (Auto-Graded). Diperoleh skor sementara objektif (misal: 50.0 / 60.0).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Tahap 2: Status NEEDS_GRADING: </a:t>
            </a:r>
            <a:r>
              <a:rPr>
                <a:solidFill>
                  <a:srgbClr val="334155"/>
                </a:solidFill>
              </a:rPr>
              <a:t>Status attempt kuis menjadi NEEDS_GRADING. Mahasiswa melihat pesan transparan: 'Skor Objektif Sementara: 50.0. Jawaban Essay sedang dinilai Dosen'.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Tahap 3: Badge Antrean Dosen: </a:t>
            </a:r>
            <a:r>
              <a:rPr>
                <a:solidFill>
                  <a:srgbClr val="334155"/>
                </a:solidFill>
              </a:rPr>
              <a:t>Dashboard dosen menampilkan lencana antrean: '35 Jawaban Perlu Dinilai pada Kuis [Nama Kuis]'.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Tahap 4: Finalisasi Skor Skala 100: </a:t>
            </a:r>
            <a:r>
              <a:rPr>
                <a:solidFill>
                  <a:srgbClr val="334155"/>
                </a:solidFill>
              </a:rPr>
              <a:t>Skor Akhir = Skor Objektif (50.0) + Skor Essay Dosen (35.0) = 85.0 / 100.0. Status berubah menjadi GRADED_COMPLETE.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Fitur Unggulan Panel Penilaian Dosen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Mode 1: Grading by Student: </a:t>
            </a:r>
            <a:r>
              <a:rPr>
                <a:solidFill>
                  <a:srgbClr val="334155"/>
                </a:solidFill>
              </a:rPr>
              <a:t>Dosen membuka lembar jawaban 1 mahasiswa secara penuh untuk membaca seluruh butir essay mahasiswa tersebut sekaligus.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Mode 2: Batch Grading by Question: </a:t>
            </a:r>
            <a:r>
              <a:rPr>
                <a:solidFill>
                  <a:srgbClr val="334155"/>
                </a:solidFill>
              </a:rPr>
              <a:t>Dosen menilai Soal No. 5 untuk seluruh 40 mahasiswa secara berurutan. Sangat efisien, hemat waktu, dan menjaga konsistensi standar rubrik nilai!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Rubrik Penilaian Terstruktur: </a:t>
            </a:r>
            <a:r>
              <a:rPr>
                <a:solidFill>
                  <a:srgbClr val="334155"/>
                </a:solidFill>
              </a:rPr>
              <a:t>Dosen dapat mengklik kriteria rubrik (Analisis 15 poin, Sintaks 15 poin, Kerapihan 10 poin) untuk mengisi skor otomatis.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Jejak Audit Koreksi Nilai: </a:t>
            </a:r>
            <a:r>
              <a:rPr>
                <a:solidFill>
                  <a:srgbClr val="334155"/>
                </a:solidFill>
              </a:rPr>
              <a:t>Jika nilai dikoreksi pasca publikasi, sistem mewajibkan pengisian alasan perubahan dan mencatat before-after snapshot di AuditLog.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&amp; 5: GRADEBOOK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Pembobotan Nilai Otomatis: Pengajar Tidak Perlu Menghitung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10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Skema Kategori Penilaian Berbobot Kelas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Tugas &amp; Laporan Praktikum (25%): </a:t>
            </a:r>
            <a:r>
              <a:rPr>
                <a:solidFill>
                  <a:srgbClr val="334155"/>
                </a:solidFill>
              </a:rPr>
              <a:t>Rata-rata seluruh penugasan &amp; laporan praktikum lab (Assignments) terhitung otomatis.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Kuis &amp; Responsi (15%): </a:t>
            </a:r>
            <a:r>
              <a:rPr>
                <a:solidFill>
                  <a:srgbClr val="334155"/>
                </a:solidFill>
              </a:rPr>
              <a:t>Akumulasi seluruh kuis objektif dan essay yang telah dinilai.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Evaluasi UTS (25%) &amp; UAS (25%): </a:t>
            </a:r>
            <a:r>
              <a:rPr>
                <a:solidFill>
                  <a:srgbClr val="334155"/>
                </a:solidFill>
              </a:rPr>
              <a:t>Ujian evaluasi tengah dan akhir semester.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Partisipasi &amp; Progres Belajar (10%): </a:t>
            </a:r>
            <a:r>
              <a:rPr>
                <a:solidFill>
                  <a:srgbClr val="334155"/>
                </a:solidFill>
              </a:rPr>
              <a:t>Diambil otomatis dari persentase penyelesaian modul, video, dan slide belajar.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Validasi Total Bobot Tepat 100.0%: </a:t>
            </a:r>
            <a:r>
              <a:rPr>
                <a:solidFill>
                  <a:srgbClr val="334155"/>
                </a:solidFill>
              </a:rPr>
              <a:t>Sistem memastikan sum of weights = 100.0% sebelum nilai akhir dapat dikunci dan dipublikasikan.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Kalkulasi Instan &amp; Konversi Huruf Resmi UAY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Formula Nilai Akhir Otomatis: </a:t>
            </a:r>
            <a:r>
              <a:rPr>
                <a:solidFill>
                  <a:srgbClr val="334155"/>
                </a:solidFill>
              </a:rPr>
              <a:t>Nilai Akhir = sum(Rata-rata Skor Kategori_k * Bobot Kategori_k / 100).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Konversi Huruf Mutu Standar UAY: </a:t>
            </a:r>
            <a:r>
              <a:rPr>
                <a:solidFill>
                  <a:srgbClr val="334155"/>
                </a:solidFill>
              </a:rPr>
              <a:t>Skor &gt;= 85 -&gt; A (4.00) | 80-84.9 -&gt; A- (3.75) | 75-79.9 -&gt; B+ (3.50) | 70-74.9 -&gt; B (3.00) | 65-69.9 -&gt; B- (2.75) | 60-64.9 -&gt; C+ (2.50) | 55-59.9 -&gt; C (2.00) | 45-54.9 -&gt; D (1.00) | &lt; 45 -&gt; E (0.00).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Draft vs Published Gradebook: </a:t>
            </a:r>
            <a:r>
              <a:rPr>
                <a:solidFill>
                  <a:srgbClr val="334155"/>
                </a:solidFill>
              </a:rPr>
              <a:t>Dosen dapat meninjau rekap nilai dalam status Draft sebelum dikunci (isLocked = true) dan dipublikasikan resmi.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Ekspor &amp; Sinkronisasi Akademik: </a:t>
            </a:r>
            <a:r>
              <a:rPr>
                <a:solidFill>
                  <a:srgbClr val="334155"/>
                </a:solidFill>
              </a:rPr>
              <a:t>Rekap nilai akhir dapat diekspor ke Excel atau disinkronkan langsung ke sistem akademik institusi.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3: EFISIENSI PENGELOLA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Mesin Import Massal Template Excel/CSV untuk Data Berulang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11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375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1. Import Bank Soal Kuis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Template Resmi: </a:t>
            </a:r>
            <a:r>
              <a:rPr>
                <a:solidFill>
                  <a:srgbClr val="334155"/>
                </a:solidFill>
              </a:rPr>
              <a:t>Dosen mengunduh template_bank_soal_uay.xlsx dengan instruksi dan contoh.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Format Kolom Lengkap: </a:t>
            </a:r>
            <a:r>
              <a:rPr>
                <a:solidFill>
                  <a:srgbClr val="334155"/>
                </a:solidFill>
              </a:rPr>
              <a:t>Tipe Soal, Teks Soal (Markdown/LaTeX), Bobot Poin, Opsi A-E, Kunci Jawaban, Pembahasan/Feedback.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Dukungan Seluruh Tipe: </a:t>
            </a:r>
            <a:r>
              <a:rPr>
                <a:solidFill>
                  <a:srgbClr val="334155"/>
                </a:solidFill>
              </a:rPr>
              <a:t>Dapat mengimpor pilihan ganda, pilihan jamak, benar/salah, isian singkat, dan essay sekaligus dalam 1 berkas.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2. Pendaftaran Peserta (Enrollment)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Import Peserta Massal: </a:t>
            </a:r>
            <a:r>
              <a:rPr>
                <a:solidFill>
                  <a:srgbClr val="334155"/>
                </a:solidFill>
              </a:rPr>
              <a:t>Template CSV/Excel: NIM, Nama Mahasiswa, Email Kampus, Kode Rombel.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Validasi Sinkronisasi SSO: </a:t>
            </a:r>
            <a:r>
              <a:rPr>
                <a:solidFill>
                  <a:srgbClr val="334155"/>
                </a:solidFill>
              </a:rPr>
              <a:t>Memverifikasi keberadaan NIM di database SSO UAY.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Filter Duplikasi Cerdas: </a:t>
            </a:r>
            <a:r>
              <a:rPr>
                <a:solidFill>
                  <a:srgbClr val="334155"/>
                </a:solidFill>
              </a:rPr>
              <a:t>Mendeteksi mahasiswa yang telah terdaftar di kelas dan mengabaikan duplikat.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Kapasitas Batch: </a:t>
            </a:r>
            <a:r>
              <a:rPr>
                <a:solidFill>
                  <a:srgbClr val="334155"/>
                </a:solidFill>
              </a:rPr>
              <a:t>Mampu memproses hingga 500 mahasiswa per batch dalam satu transaksi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3375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3. Nilai Tugas/Ujian Offline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Pre-filled Template Export: </a:t>
            </a:r>
            <a:r>
              <a:rPr>
                <a:solidFill>
                  <a:srgbClr val="334155"/>
                </a:solidFill>
              </a:rPr>
              <a:t>Dosen dapat mengunduh format lembar nilai Excel yang sudah otomatis terisi daftar nama dan NIM mahasiswa kelas aktif.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Penilaian Luar Jaringan: </a:t>
            </a:r>
            <a:r>
              <a:rPr>
                <a:solidFill>
                  <a:srgbClr val="334155"/>
                </a:solidFill>
              </a:rPr>
              <a:t>Dosen mengisi nilai praktikum offline atau ujian tatap muka di Excel lalu mengunggahnya kembali.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Tabel Validasi Pra-Import: </a:t>
            </a:r>
            <a:r>
              <a:rPr>
                <a:solidFill>
                  <a:srgbClr val="334155"/>
                </a:solidFill>
              </a:rPr>
              <a:t>Menampilkan pratinjau tabel berwarna: baris valid (hijau) vs baris error (merah) sebelum commit ke database.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3: KETAHANAN KLIEN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Penyimpanan Draf Lokal (IndexedDB) &amp; Manajemen Eviksi Penyimpanan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12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Autosave Lokal &amp; Pemulihan Otomatis (Crash Recovery)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Masalah di Lapangan: </a:t>
            </a:r>
            <a:r>
              <a:rPr>
                <a:solidFill>
                  <a:srgbClr val="334155"/>
                </a:solidFill>
              </a:rPr>
              <a:t>Koneksi Wi-Fi kampus putus, laptop mati mendadak, atau browser reload saat dosen mengetik materi panjang atau mahasiswa menulis essay.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Solusi: IndexedDB Autosave: </a:t>
            </a:r>
            <a:r>
              <a:rPr>
                <a:solidFill>
                  <a:srgbClr val="334155"/>
                </a:solidFill>
              </a:rPr>
              <a:t>Menyimpan snapshot draf secara asinkronus ke IndexedDB browser (bukan LocalStorage biasa) dengan debounce interval 2000ms.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Deteksi Draf Otomatis: </a:t>
            </a:r>
            <a:r>
              <a:rPr>
                <a:solidFill>
                  <a:srgbClr val="334155"/>
                </a:solidFill>
              </a:rPr>
              <a:t>Saat editor dibuka kembali, jika timestamp lokal &gt; server, muncul banner: 'Ditemukan draf lokal terbaru dari [Waktu]. [Pulihkan Draf]'.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Indikator UI Halus: </a:t>
            </a:r>
            <a:r>
              <a:rPr>
                <a:solidFill>
                  <a:srgbClr val="334155"/>
                </a:solidFill>
              </a:rPr>
              <a:t>Menampilkan status visual 'Draf tersimpan lokal • 12:40 WIB' dengan ikon centang tanpa mengganggu fokus pengguna.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B45309"/>
                </a:solidFill>
              </a:defRPr>
            </a:pPr>
            <a:r>
              <a:t>Manajemen Eviksi Penyimpanan (Anti-Membengkak)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Batas Alokasi Kuota 15 MB: </a:t>
            </a:r>
            <a:r>
              <a:rPr>
                <a:solidFill>
                  <a:srgbClr val="334155"/>
                </a:solidFill>
              </a:rPr>
              <a:t>Kapasitas draf lokal dibatasi maksimal 15 MB per pengguna di perangkatnya.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Masa Berlaku Draf 14 Hari (TTL): </a:t>
            </a:r>
            <a:r>
              <a:rPr>
                <a:solidFill>
                  <a:srgbClr val="334155"/>
                </a:solidFill>
              </a:rPr>
              <a:t>Draf yang tidak disentuh atau dipulihkan dalam 14 hari akan otomatis dibersihkan sistem (Auto-Expunged).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Kebijakan Eviksi LRU: </a:t>
            </a:r>
            <a:r>
              <a:rPr>
                <a:solidFill>
                  <a:srgbClr val="334155"/>
                </a:solidFill>
              </a:rPr>
              <a:t>Jika kuota mendekati batas 15 MB atau 50 item, sistem menghapus draf kedaluwarsa dan draf tersinkronisasi terlebih dahulu, lalu menghapus draf tertua (Least Recently Used).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Auto-Purge Pasca-Simpan Sukses: </a:t>
            </a:r>
            <a:r>
              <a:rPr>
                <a:solidFill>
                  <a:srgbClr val="334155"/>
                </a:solidFill>
              </a:rPr>
              <a:t>Saat tombol 'Simpan/Publikasi' berhasil dieksekusi ke server, draf pada IndexedDB seketika dihapus permanen sehingga penyimpanan tetap bersih.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Menu Kontrol Mandiri: </a:t>
            </a:r>
            <a:r>
              <a:rPr>
                <a:solidFill>
                  <a:srgbClr val="334155"/>
                </a:solidFill>
              </a:rPr>
              <a:t>Disediakan tombol 'Hapus Semua Draf Lokal' pada menu profil pengguna.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&amp; BAB 8: UMPAN BALIK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Sistem Umpan Balik (Feedback &amp; Blocker) &amp; Jejak Audit Before-After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13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Standar 4 Status Respon Interaksi Sistem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1. SUCCESS STATE (Berhasil): </a:t>
            </a:r>
            <a:r>
              <a:rPr>
                <a:solidFill>
                  <a:srgbClr val="334155"/>
                </a:solidFill>
              </a:rPr>
              <a:t>Banner konfirmasi hijau seketika dengan timestamp presisi &amp; nomor versi: 'Tugas berhasil dikumpulkan pada 03 Sep 2026, 11:15 WIB (Versi 2 - On Time)'.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2. FAILURE STATE (Gagal Sementara): </a:t>
            </a:r>
            <a:r>
              <a:rPr>
                <a:solidFill>
                  <a:srgbClr val="334155"/>
                </a:solidFill>
              </a:rPr>
              <a:t>Pesan kesalahan ramah pengguna dengan tombol tindakan langsung: 'Gagal mengunggah berkas karena jaringan terputus. Silakan klik Coba Lagi'.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3. BLOCKER STATE (Kendala Akses): </a:t>
            </a:r>
            <a:r>
              <a:rPr>
                <a:solidFill>
                  <a:srgbClr val="334155"/>
                </a:solidFill>
              </a:rPr>
              <a:t>Penjelasan eksplisit mengapa aksi diblokir: 'Kuis belum dapat dikerjakan karena jadwal baru dibuka pada 10 Sep 2026 pukul 08.00 WIB' atau 'Pengumpulan ditolak karena melewati batas cutoff'.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4. PROGRESS &amp; ANTI DOUBLE-SUBMIT: </a:t>
            </a:r>
            <a:r>
              <a:rPr>
                <a:solidFill>
                  <a:srgbClr val="334155"/>
                </a:solidFill>
              </a:rPr>
              <a:t>Progress bar persentase upload berkas (0-100%) dan penguncian tombol dengan Idempotency Token di Redis agar klik ganda tidak membuat duplikat.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Jejak Audit Mendalam (Before-After State Snapshot)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Integritas Akademik Mutlak: </a:t>
            </a:r>
            <a:r>
              <a:rPr>
                <a:solidFill>
                  <a:srgbClr val="334155"/>
                </a:solidFill>
              </a:rPr>
              <a:t>Seluruh aksi mutasi data kritis wajib mencatat kondisi sebelum (beforeState) dan sesudah (afterState) ke tabel AuditLog.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Titik Kritis yang Diaudit: </a:t>
            </a:r>
            <a:r>
              <a:rPr>
                <a:solidFill>
                  <a:srgbClr val="334155"/>
                </a:solidFill>
              </a:rPr>
              <a:t>Koreksi Nilai Dosen (wajib menyertakan alasan/reason), Pengumpulan Ulang Tugas Berversi, Pengubahan Konfigurasi Kuis Aktif, Mutasi Anggota Kelas, dan Peran Pengguna.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Metadata Lengkap: </a:t>
            </a:r>
            <a:r>
              <a:rPr>
                <a:solidFill>
                  <a:srgbClr val="334155"/>
                </a:solidFill>
              </a:rPr>
              <a:t>Mencatat actorId, actorRole, clientIp, userAgent, entityId, timestamp presisi milidetik, dan requestId.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Penyelesaian Sengketa Nilai: </a:t>
            </a:r>
            <a:r>
              <a:rPr>
                <a:solidFill>
                  <a:srgbClr val="334155"/>
                </a:solidFill>
              </a:rPr>
              <a:t>Jika terjadi komplain nilai mahasiswa, institusi dapat merekonstruksi riwayat pengubahan nilai detik demi detik.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5 &amp; BAB 6: STANDAR REKAYASA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Standar Konvensi Codebase 100% Bahasa Inggris &amp; Skema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14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Konvensi Kode 100% Bahasa Inggris Profesional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Standar Penamaan Identitas: </a:t>
            </a:r>
            <a:r>
              <a:rPr>
                <a:solidFill>
                  <a:srgbClr val="334155"/>
                </a:solidFill>
              </a:rPr>
              <a:t>Seluruh variabel, nama fungsi, class, interface, tipe data, skema database, REST API, dan komentar kode diwajibkan 100% Bahasa Inggris murni.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Contoh Variabel &amp; Metode: </a:t>
            </a:r>
            <a:r>
              <a:rPr>
                <a:solidFill>
                  <a:srgbClr val="334155"/>
                </a:solidFill>
              </a:rPr>
              <a:t>watchedSeconds, viewedPages, isEnrollmentActive, calculateFinalGrade(), submitQuizAttempt(), restoreDraftFromStorage().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REST API Kebab-Case: </a:t>
            </a:r>
            <a:r>
              <a:rPr>
                <a:solidFill>
                  <a:srgbClr val="334155"/>
                </a:solidFill>
              </a:rPr>
              <a:t>GET /api/v1/course-classes/:id/grade-categories, POST /api/v1/quizzes/:id/submit-attempt.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Pemisahan Kode vs UI: </a:t>
            </a:r>
            <a:r>
              <a:rPr>
                <a:solidFill>
                  <a:srgbClr val="334155"/>
                </a:solidFill>
              </a:rPr>
              <a:t>Kode murni berbahasa Inggris; Bahasa Indonesia diisolasi khusus pada file lokalisasi antarmuka pengguna (i18n id.json) untuk label dan tombol.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18 Model Relasional Prisma (PostgreSQL 16)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User, Course, CourseClass: </a:t>
            </a:r>
            <a:r>
              <a:rPr>
                <a:solidFill>
                  <a:srgbClr val="334155"/>
                </a:solidFill>
              </a:rPr>
              <a:t>Relasi katalog mata kuliah induk dan rombongan belajar kelas per tahun ajaran/semester.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ClassInstructor &amp; Enrollment: </a:t>
            </a:r>
            <a:r>
              <a:rPr>
                <a:solidFill>
                  <a:srgbClr val="334155"/>
                </a:solidFill>
              </a:rPr>
              <a:t>Pemetaan wewenang dosen pengampu dan status keaktifan mahasiswa.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Section &amp; ResourceItem: </a:t>
            </a:r>
            <a:r>
              <a:rPr>
                <a:solidFill>
                  <a:srgbClr val="334155"/>
                </a:solidFill>
              </a:rPr>
              <a:t>Hierarki pertemuan modular polimorfik dengan dynamicPayload JSONB.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VideoProgress &amp; SlideProgress: </a:t>
            </a:r>
            <a:r>
              <a:rPr>
                <a:solidFill>
                  <a:srgbClr val="334155"/>
                </a:solidFill>
              </a:rPr>
              <a:t>Tabel pelacak waktu tonton video anti-skip dan array halaman slide PDF unik.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QuestionBank, Question, Quiz, Attempt: </a:t>
            </a:r>
            <a:r>
              <a:rPr>
                <a:solidFill>
                  <a:srgbClr val="334155"/>
                </a:solidFill>
              </a:rPr>
              <a:t>Arsitektur bank soal, 8 tipe pertanyaan kuis, dan attempt terpisah.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Assignment &amp; Submission: </a:t>
            </a:r>
            <a:r>
              <a:rPr>
                <a:solidFill>
                  <a:srgbClr val="334155"/>
                </a:solidFill>
              </a:rPr>
              <a:t>Penugasan dengan toleransi keterlambatan dan riwayat versi pengumpulan.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GradeCategory &amp; FinalGradeRecord: </a:t>
            </a:r>
            <a:r>
              <a:rPr>
                <a:solidFill>
                  <a:srgbClr val="334155"/>
                </a:solidFill>
              </a:rPr>
              <a:t>Skema pembobotan nilai otomatis dan tabel rekap nilai akhir.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7: SERVER &amp;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Blueprint Deployment Dual-Environment &amp; Berkas Konfigurasi Siap Pakai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15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Arsitektur Dual-Environment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1. Live Development / Staging Server: </a:t>
            </a:r>
            <a:r>
              <a:rPr>
                <a:solidFill>
                  <a:srgbClr val="334155"/>
                </a:solidFill>
              </a:rPr>
              <a:t>Aktif saat ini untuk pengujian berkelanjutan dan validasi tim (PO &amp; QA). Menggunakan docker-compose.dev.yml dengan volume mount hot-reload dan port debug terbuka.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2. Production VPS Host (Rencana Resmi): </a:t>
            </a:r>
            <a:r>
              <a:rPr>
                <a:solidFill>
                  <a:srgbClr val="334155"/>
                </a:solidFill>
              </a:rPr>
              <a:t>Lingkungan produksi terisolasi untuk perkuliahan pilot. Menggunakan docker-compose.prod.yml dengan jaringan privat tertutup, healthchecks, dan auto-restart policy.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Reverse Proxy Nginx &amp; SSL: </a:t>
            </a:r>
            <a:r>
              <a:rPr>
                <a:solidFill>
                  <a:srgbClr val="334155"/>
                </a:solidFill>
              </a:rPr>
              <a:t>Port 80 redirect ke 443 HTTPS dengan enkripsi TLS 1.3 Let's Encrypt Certbot dan security headers.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Perlindungan Rate Limiting: </a:t>
            </a:r>
            <a:r>
              <a:rPr>
                <a:solidFill>
                  <a:srgbClr val="334155"/>
                </a:solidFill>
              </a:rPr>
              <a:t>Membatasi traffic API (30 req/s) dan endpoint otentikasi login (5 req/s) untuk mencegah brute-force dan DDoS.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Berkas Siap Pakai di Direktori deployment/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docker-compose.prod.yml: </a:t>
            </a:r>
            <a:r>
              <a:rPr>
                <a:solidFill>
                  <a:srgbClr val="334155"/>
                </a:solidFill>
              </a:rPr>
              <a:t>Orkestrasi kontainer produksi: Nginx Gateway, React Frontend, Node.js API, PostgreSQL 16, dan Redis 7.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docker-compose.dev.yml: </a:t>
            </a:r>
            <a:r>
              <a:rPr>
                <a:solidFill>
                  <a:srgbClr val="334155"/>
                </a:solidFill>
              </a:rPr>
              <a:t>Konfigurasi cepat untuk Live Staging Server tim developer.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Dockerfile.api: </a:t>
            </a:r>
            <a:r>
              <a:rPr>
                <a:solidFill>
                  <a:srgbClr val="334155"/>
                </a:solidFill>
              </a:rPr>
              <a:t>Multi-stage build Node.js Alpine minimal (~120 MB runtime).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Dockerfile.web: </a:t>
            </a:r>
            <a:r>
              <a:rPr>
                <a:solidFill>
                  <a:srgbClr val="334155"/>
                </a:solidFill>
              </a:rPr>
              <a:t>Multi-stage build React Vite SPA dengan Nginx Alpine (~25 MB).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nginx/prod.conf: </a:t>
            </a:r>
            <a:r>
              <a:rPr>
                <a:solidFill>
                  <a:srgbClr val="334155"/>
                </a:solidFill>
              </a:rPr>
              <a:t>Konfigurasi reverse proxy, SSL, gzip compression, dan security headers.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.env.example: </a:t>
            </a:r>
            <a:r>
              <a:rPr>
                <a:solidFill>
                  <a:srgbClr val="334155"/>
                </a:solidFill>
              </a:rPr>
              <a:t>Daftar variabel lingkungan lengkap (SSO credentials, File Service key, DB &amp; Redis pass).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Perintah Eksekusi 1 Baris: </a:t>
            </a:r>
            <a:r>
              <a:rPr>
                <a:solidFill>
                  <a:srgbClr val="334155"/>
                </a:solidFill>
              </a:rPr>
              <a:t>docker compose -f docker-compose.prod.yml up -d --build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8 &amp; BAB 9: RENCANA EKSEKUSI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Rencana Pengembangan 5 Tahap &amp; Agenda Sign-Off Product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16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5 Tahapan Pengembangan Vertikal (Vertical Slices)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Tahap 1: Fondasi &amp; SSO (3 Hari): </a:t>
            </a:r>
            <a:r>
              <a:rPr>
                <a:solidFill>
                  <a:srgbClr val="334155"/>
                </a:solidFill>
              </a:rPr>
              <a:t>Setup repositori, konfigurasi Prisma &amp; PostgreSQL, integrasi OIDC SSO UAY, pemetaan pengguna &amp; middleware RBAC.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Tahap 2: File &amp; Dynamic Engine (4 Hari): </a:t>
            </a:r>
            <a:r>
              <a:rPr>
                <a:solidFill>
                  <a:srgbClr val="334155"/>
                </a:solidFill>
              </a:rPr>
              <a:t>Integrasi File Service Upload Ticket, Course/Class, Dynamic Section, dan Notion-style Block System.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Tahap 3: Assessment &amp; Auto-Grading (5 Hari): </a:t>
            </a:r>
            <a:r>
              <a:rPr>
                <a:solidFill>
                  <a:srgbClr val="334155"/>
                </a:solidFill>
              </a:rPr>
              <a:t>Bank Soal, 8 Tipe Soal Kuis, Tugas berversi, Pembobotan Butir Soal, Penilaian Essay, dan Pembobotan Nilai Otomatis.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Tahap 4: Progress, Audit &amp; Feedback (3 Hari): </a:t>
            </a:r>
            <a:r>
              <a:rPr>
                <a:solidFill>
                  <a:srgbClr val="334155"/>
                </a:solidFill>
              </a:rPr>
              <a:t>Video &amp; Slide Progress Tracking, Audit Log Before-After, IndexedDB Draft Caching, dan BVA Testing.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Tahap 5: Pilot Deployment (2 Hari): </a:t>
            </a:r>
            <a:r>
              <a:rPr>
                <a:solidFill>
                  <a:srgbClr val="334155"/>
                </a:solidFill>
              </a:rPr>
              <a:t>Deployment ke VPS Staging/Production, konfigurasi SSL Nginx, load testing, dan UAT pilot Prodi Informatika.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Agenda Pembahasan &amp; Sign-Off Hari Ini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1. Review Product Owner (PO): </a:t>
            </a:r>
            <a:r>
              <a:rPr>
                <a:solidFill>
                  <a:srgbClr val="334155"/>
                </a:solidFill>
              </a:rPr>
              <a:t>Konfirmasi cakupan fitur P0, skema pembobotan nilai otomatis, dan alur pengalaman dosen/mahasiswa.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2. Review Tim Developer (Dev): </a:t>
            </a:r>
            <a:r>
              <a:rPr>
                <a:solidFill>
                  <a:srgbClr val="334155"/>
                </a:solidFill>
              </a:rPr>
              <a:t>Penyelarasan skema database Prisma 18 model, kontrak API, dan standar 100% English Codebase.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3. Review Tim QA: </a:t>
            </a:r>
            <a:r>
              <a:rPr>
                <a:solidFill>
                  <a:srgbClr val="334155"/>
                </a:solidFill>
              </a:rPr>
              <a:t>Validasi matriks Boundary Value Analysis (BVA), skenario Cause-Effect, dan kriteria penerimaan pengujian.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4. Review Teknisi Server / DevOps: </a:t>
            </a:r>
            <a:r>
              <a:rPr>
                <a:solidFill>
                  <a:srgbClr val="334155"/>
                </a:solidFill>
              </a:rPr>
              <a:t>Persetujuan topologi Docker Compose, Nginx SSL, dan prosedur backup otomatis harian.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Kesimpulan: </a:t>
            </a:r>
            <a:r>
              <a:rPr>
                <a:solidFill>
                  <a:srgbClr val="334155"/>
                </a:solidFill>
              </a:rPr>
              <a:t>Setelah review bersama ini disepakati, tim pengembang siap langsung memulai implementasi kode Tahap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