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8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PANDUAN PRESENTER (SLIDE 1): Buka presentasi V4.0 dengan menegaskan kesiapan sistem mencakup seluruh spesifikasi P0 pilot, P1, dan P2 sesuai dokumen kebutuhan institusi UAY.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541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9728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10972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93C5FD"/>
                </a:solidFill>
              </a:defRPr>
            </a:pPr>
            <a:r>
              <a:t>PLATFORM DIGITAL UNIVERSITAS ACHMAD YANI (UAY)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Proposal Desain Teknis E-Learning UAY</a:t>
            </a:r>
          </a:p>
          <a:p>
            <a:pPr>
              <a:spcAft>
                <a:spcPts val="2200"/>
              </a:spcAft>
              <a:defRPr sz="1800" b="1">
                <a:solidFill>
                  <a:srgbClr val="BFDBFE"/>
                </a:solidFill>
              </a:defRPr>
            </a:pPr>
            <a:r>
              <a:t>Versi 3.0: Arsitektur Sistem, Dynamic Resource, Granular Progress, dan Pemetaan Prioritas P0-Pn</a:t>
            </a:r>
          </a:p>
          <a:p>
            <a:pPr>
              <a:spcAft>
                <a:spcPts val="3000"/>
              </a:spcAft>
              <a:defRPr sz="1300">
                <a:solidFill>
                  <a:srgbClr val="CBD5E1"/>
                </a:solidFill>
              </a:defRPr>
            </a:pPr>
            <a:r>
              <a:t>Mendukung Perkuliahan Teori, Praktikum Lab Dinamis, Pembobotan Nilai Otomatis, Jejak Audit Before-After State, dan Deployment Dual-Environment</a:t>
            </a:r>
          </a:p>
          <a:p>
            <a:pPr>
              <a:defRPr sz="1150" b="1">
                <a:solidFill>
                  <a:srgbClr val="FBBF24"/>
                </a:solidFill>
              </a:defRPr>
            </a:pPr>
            <a:r>
              <a:t>STATUS DOKUMEN: DRAFT PROPOSAL V4.0 - READY FOR REVIEW (PO, DEV, QA, DAN TEKNISI SERVER)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1: GAMBARAN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Ekosistem Tiga Aplikasi dan Batas Tanggung Jawab (Service Boundaries)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1. SSO / Identity Service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Kepemilikan Data: </a:t>
            </a:r>
            <a:r>
              <a:rPr>
                <a:solidFill>
                  <a:srgbClr val="334155"/>
                </a:solidFill>
              </a:rPr>
              <a:t>Kredensial login, hash password, status akun (Active/Disabled), dan peran institusi.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Protokol: </a:t>
            </a:r>
            <a:r>
              <a:rPr>
                <a:solidFill>
                  <a:srgbClr val="334155"/>
                </a:solidFill>
              </a:rPr>
              <a:t>OpenID Connect (OIDC) Authorization Code Flow + PKCE.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Prinsip Zero-Password: </a:t>
            </a:r>
            <a:r>
              <a:rPr>
                <a:solidFill>
                  <a:srgbClr val="334155"/>
                </a:solidFill>
              </a:rPr>
              <a:t>E-Learning TIDAK menyimpan password. Hanya mereferensikan immutable Subject UUID.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Fitur Kunci: </a:t>
            </a:r>
            <a:r>
              <a:rPr>
                <a:solidFill>
                  <a:srgbClr val="334155"/>
                </a:solidFill>
              </a:rPr>
              <a:t>Single Sign-On, Single Logout, dan First-time password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2. E-Learning Core Engine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Kepemilikan Data: </a:t>
            </a:r>
            <a:r>
              <a:rPr>
                <a:solidFill>
                  <a:srgbClr val="334155"/>
                </a:solidFill>
              </a:rPr>
              <a:t>Katalog mata kuliah (Course), rombel kelas (CourseClass), sesi pertemuan, materi, kuis, tugas, dan nilai.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Prinsip Zero-Binary: </a:t>
            </a:r>
            <a:r>
              <a:rPr>
                <a:solidFill>
                  <a:srgbClr val="334155"/>
                </a:solidFill>
              </a:rPr>
              <a:t>Tidak menyimpan file binary fisik di storage lokal E-Learning.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Logika Akademik: </a:t>
            </a:r>
            <a:r>
              <a:rPr>
                <a:solidFill>
                  <a:srgbClr val="334155"/>
                </a:solidFill>
              </a:rPr>
              <a:t>Kalkulasi nilai otomatis, rubrik essay, peracikan bank soal, pelacakan video/slide, dan audit log.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Integrasi: </a:t>
            </a:r>
            <a:r>
              <a:rPr>
                <a:solidFill>
                  <a:srgbClr val="334155"/>
                </a:solidFill>
              </a:rPr>
              <a:t>Berkomunikasi via token JWT SSO dan tiket presigned File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3. File Service dan Storage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Kepemilikan Data: </a:t>
            </a:r>
            <a:r>
              <a:rPr>
                <a:solidFill>
                  <a:srgbClr val="334155"/>
                </a:solidFill>
              </a:rPr>
              <a:t>Objek binary fisik di S3/MinIO, metadata checksum SHA-256, MIME type, dan antivirus scan.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Akses Aman: </a:t>
            </a:r>
            <a:r>
              <a:rPr>
                <a:solidFill>
                  <a:srgbClr val="334155"/>
                </a:solidFill>
              </a:rPr>
              <a:t>Direct upload via Presigned URL; unduh via Signed Download Ticket (TTL 15 menit).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Siklus Sampah 7 Hari: </a:t>
            </a:r>
            <a:r>
              <a:rPr>
                <a:solidFill>
                  <a:srgbClr val="334155"/>
                </a:solidFill>
              </a:rPr>
              <a:t>File yang dihapus masuk status TRASH selama 7 hari sebelum purge permanen.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Batas Ukuran: </a:t>
            </a:r>
            <a:r>
              <a:rPr>
                <a:solidFill>
                  <a:srgbClr val="334155"/>
                </a:solidFill>
              </a:rPr>
              <a:t>Cover: 5 MB, Dokumen: 20-50 MB, Video: Utamakan Embed / Lokal 100 MB.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1 DAN BAB 5: OTORISASI DAN HAK AKSES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Aktor Sistem dan Pemisahan Wewenang Berbasis Kelas (Row-Level Security)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2331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Super Admin dan Admin Prodi/Lab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Super Admin (Global): </a:t>
            </a:r>
            <a:r>
              <a:rPr>
                <a:solidFill>
                  <a:srgbClr val="334155"/>
                </a:solidFill>
              </a:rPr>
              <a:t>Manajemen platform menyeluruh, audit log institusi, konfigurasi sistem, dan darurat.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Admin Prodi / Lab: </a:t>
            </a:r>
            <a:r>
              <a:rPr>
                <a:solidFill>
                  <a:srgbClr val="334155"/>
                </a:solidFill>
              </a:rPr>
              <a:t>Membuat mata kuliah induk (Course), membuka kelas rombel (CourseClass), menetapkan dosen pengampu, dan import mahasiswa massal.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Batas Kewenangan: </a:t>
            </a:r>
            <a:r>
              <a:rPr>
                <a:solidFill>
                  <a:srgbClr val="334155"/>
                </a:solidFill>
              </a:rPr>
              <a:t>Admin Prodi hanya mengelola prodi/laboratorium dalam kewenangannya.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2331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Pengajar / Dosen / Asisten Lab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Kelas yang Ditugaskan: </a:t>
            </a:r>
            <a:r>
              <a:rPr>
                <a:solidFill>
                  <a:srgbClr val="334155"/>
                </a:solidFill>
              </a:rPr>
              <a:t>Hanya memiliki izin mutasi pada kelas di mana dosen terdaftar sebagai ClassInstructor.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Penyusunan Materi: </a:t>
            </a:r>
            <a:r>
              <a:rPr>
                <a:solidFill>
                  <a:srgbClr val="334155"/>
                </a:solidFill>
              </a:rPr>
              <a:t>Menyusun section perkuliahan &amp; praktikum, mengunggah materi blok, membuat bank soal, dan tugas.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Manajemen Nilai: </a:t>
            </a:r>
            <a:r>
              <a:rPr>
                <a:solidFill>
                  <a:srgbClr val="334155"/>
                </a:solidFill>
              </a:rPr>
              <a:t>Mengatur bobot nilai, menilai essay, menyimpan draft nilai, dan mempublikasikan Gradebook.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166360" cy="22402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Mahasiswa / Peserta Pembelajaran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Ruang Lingkup Terdaftar: </a:t>
            </a:r>
            <a:r>
              <a:rPr>
                <a:solidFill>
                  <a:srgbClr val="334155"/>
                </a:solidFill>
              </a:rPr>
              <a:t>Hanya dapat mengakses kelas di mana mahasiswa aktif terdaftar (Enrollment).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Aktivitas Pembelajaran: </a:t>
            </a:r>
            <a:r>
              <a:rPr>
                <a:solidFill>
                  <a:srgbClr val="334155"/>
                </a:solidFill>
              </a:rPr>
              <a:t>Mempelajari materi teks/slide/video, mengunduh dataset lab, mengerjakan kuis, submit tugas berversi.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Transparansi Progres: </a:t>
            </a:r>
            <a:r>
              <a:rPr>
                <a:solidFill>
                  <a:srgbClr val="334155"/>
                </a:solidFill>
              </a:rPr>
              <a:t>Memantau progres belajar mandiri dan melihat nilai yang telah dipublikasikan resmi.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4069080"/>
            <a:ext cx="5166360" cy="224028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B45309"/>
                </a:solidFill>
              </a:defRPr>
            </a:pPr>
            <a:r>
              <a:t>Aturan Proteksi Data Kunci (RLS)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Isolasi Nilai Draft: </a:t>
            </a:r>
            <a:r>
              <a:rPr>
                <a:solidFill>
                  <a:srgbClr val="334155"/>
                </a:solidFill>
              </a:rPr>
              <a:t>Nilai berstatus Draft tidak pernah terkirim ke klien mahasiswa sebelum resmi di-Publish.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Kelas Diarsipkan (Archived): </a:t>
            </a:r>
            <a:r>
              <a:rPr>
                <a:solidFill>
                  <a:srgbClr val="334155"/>
                </a:solidFill>
              </a:rPr>
              <a:t>Kelas semester lalu otomatis terkunci menjadi Read-Only (portofolio mahasiswa).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Duplikasi Kelas (Clean Clone): </a:t>
            </a:r>
            <a:r>
              <a:rPr>
                <a:solidFill>
                  <a:srgbClr val="334155"/>
                </a:solidFill>
              </a:rPr>
              <a:t>Duplikasi materi &amp; soal ke rombel semester baru dengan reset bersih data mahasiswa.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2: ARSITEKTUR DAN KEAMANAN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Integrasi SSO OIDC dan Strategi Perlindungan Status Akun 3-Lapis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Alur Otentikasi OIDC + PKCE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Standar Industri: </a:t>
            </a:r>
            <a:r>
              <a:rPr>
                <a:solidFill>
                  <a:srgbClr val="334155"/>
                </a:solidFill>
              </a:rPr>
              <a:t>Authorization Code Flow dengan Proof Key for Code Exchange (PKCE) untuk keamanan web SPA modern.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Token Validation Claims: </a:t>
            </a:r>
            <a:r>
              <a:rPr>
                <a:solidFill>
                  <a:srgbClr val="334155"/>
                </a:solidFill>
              </a:rPr>
              <a:t>Backend E-Learning memvalidasi iss (sso.uay.ac.id), aud (elearning-uay), sub (UUID), dan exp.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Cookie Aman: </a:t>
            </a:r>
            <a:r>
              <a:rPr>
                <a:solidFill>
                  <a:srgbClr val="334155"/>
                </a:solidFill>
              </a:rPr>
              <a:t>Menyimpan session token di browser menggunakan HttpOnly, Secure, SameSite=Lax Cookie (mencegah XSS).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Local User Sync: </a:t>
            </a:r>
            <a:r>
              <a:rPr>
                <a:solidFill>
                  <a:srgbClr val="334155"/>
                </a:solidFill>
              </a:rPr>
              <a:t>Menyalin profil dasar (NIM/NIDN, Nama, Email) saat login untuk performa query lokal yang cepat.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Sistem Perlindungan Status Akun (3 Lapis)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Lapis 1: Klaim Token Instan: </a:t>
            </a:r>
            <a:r>
              <a:rPr>
                <a:solidFill>
                  <a:srgbClr val="334155"/>
                </a:solidFill>
              </a:rPr>
              <a:t>Token JWT memuat klaim account_status: 'ACTIVE'. Jika 'SUSPENDED' atau 'DISABLED', middleware langsung menolak akses (HTTP 403) secara stateless.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Lapis 2: Short-Lived 15m Token TTL: </a:t>
            </a:r>
            <a:r>
              <a:rPr>
                <a:solidFill>
                  <a:srgbClr val="334155"/>
                </a:solidFill>
              </a:rPr>
              <a:t>Access Token dibatasi berumur 15 menit. Setiap perpanjangan via Refresh Token mewajibkan verifikasi status aktif langsung ke database SSO.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Lapis 3: Real-Time Revocation via Redis: </a:t>
            </a:r>
            <a:r>
              <a:rPr>
                <a:solidFill>
                  <a:srgbClr val="334155"/>
                </a:solidFill>
              </a:rPr>
              <a:t>Saat Admin menonaktifkan akun di portal SSO, SSO mengirim event webhook/Redis pub-sub. E-Learning seketika mem-blacklist userId di Redis. Pengguna terputus detik itu juga tanpa menunggu token 15 menit habis!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Pesan Blocker Jelas: </a:t>
            </a:r>
            <a:r>
              <a:rPr>
                <a:solidFill>
                  <a:srgbClr val="334155"/>
                </a:solidFill>
              </a:rPr>
              <a:t>Menampilkan callout eksplisit: 'Akun Anda dinonaktifkan oleh administrator institusi. Silakan hubungi bagian akademik.'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4: MANAJEMEN MATERI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Dynamic Resource Engine: Sistem Editor Berbasis Blok (Gaya Notion)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rPr dirty="0" err="1"/>
              <a:t>Arsitektur</a:t>
            </a:r>
            <a:r>
              <a:rPr dirty="0"/>
              <a:t> </a:t>
            </a:r>
            <a:r>
              <a:rPr dirty="0" err="1"/>
              <a:t>Konten</a:t>
            </a:r>
            <a:r>
              <a:rPr dirty="0"/>
              <a:t> Blok Modular (JSON AST)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Mengapa</a:t>
            </a:r>
            <a:r>
              <a:rPr b="1" dirty="0">
                <a:solidFill>
                  <a:srgbClr val="0F172A"/>
                </a:solidFill>
              </a:rPr>
              <a:t> </a:t>
            </a:r>
            <a:r>
              <a:rPr b="1" dirty="0" err="1">
                <a:solidFill>
                  <a:srgbClr val="0F172A"/>
                </a:solidFill>
              </a:rPr>
              <a:t>Berbasis</a:t>
            </a:r>
            <a:r>
              <a:rPr b="1" dirty="0">
                <a:solidFill>
                  <a:srgbClr val="0F172A"/>
                </a:solidFill>
              </a:rPr>
              <a:t> Blok?: </a:t>
            </a:r>
            <a:r>
              <a:rPr dirty="0" err="1">
                <a:solidFill>
                  <a:srgbClr val="334155"/>
                </a:solidFill>
              </a:rPr>
              <a:t>Menggantikan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teks</a:t>
            </a:r>
            <a:r>
              <a:rPr dirty="0">
                <a:solidFill>
                  <a:srgbClr val="334155"/>
                </a:solidFill>
              </a:rPr>
              <a:t> statis HTML </a:t>
            </a:r>
            <a:r>
              <a:rPr dirty="0" err="1">
                <a:solidFill>
                  <a:srgbClr val="334155"/>
                </a:solidFill>
              </a:rPr>
              <a:t>monolitik</a:t>
            </a:r>
            <a:r>
              <a:rPr dirty="0">
                <a:solidFill>
                  <a:srgbClr val="334155"/>
                </a:solidFill>
              </a:rPr>
              <a:t>. </a:t>
            </a:r>
            <a:r>
              <a:rPr dirty="0" err="1">
                <a:solidFill>
                  <a:srgbClr val="334155"/>
                </a:solidFill>
              </a:rPr>
              <a:t>Materi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disusun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atas</a:t>
            </a:r>
            <a:r>
              <a:rPr dirty="0">
                <a:solidFill>
                  <a:srgbClr val="334155"/>
                </a:solidFill>
              </a:rPr>
              <a:t> array </a:t>
            </a:r>
            <a:r>
              <a:rPr dirty="0" err="1">
                <a:solidFill>
                  <a:srgbClr val="334155"/>
                </a:solidFill>
              </a:rPr>
              <a:t>blok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terstruktur</a:t>
            </a:r>
            <a:r>
              <a:rPr dirty="0">
                <a:solidFill>
                  <a:srgbClr val="334155"/>
                </a:solidFill>
              </a:rPr>
              <a:t> (blocks: </a:t>
            </a:r>
            <a:r>
              <a:rPr dirty="0" err="1">
                <a:solidFill>
                  <a:srgbClr val="334155"/>
                </a:solidFill>
              </a:rPr>
              <a:t>ContentBlock</a:t>
            </a:r>
            <a:r>
              <a:rPr dirty="0">
                <a:solidFill>
                  <a:srgbClr val="334155"/>
                </a:solidFill>
              </a:rPr>
              <a:t>[]) yang modular.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Interaksi</a:t>
            </a:r>
            <a:r>
              <a:rPr b="1" dirty="0">
                <a:solidFill>
                  <a:srgbClr val="0F172A"/>
                </a:solidFill>
              </a:rPr>
              <a:t> Modern </a:t>
            </a:r>
            <a:r>
              <a:rPr b="1" dirty="0" err="1">
                <a:solidFill>
                  <a:srgbClr val="0F172A"/>
                </a:solidFill>
              </a:rPr>
              <a:t>Dosen</a:t>
            </a:r>
            <a:r>
              <a:rPr b="1" dirty="0">
                <a:solidFill>
                  <a:srgbClr val="0F172A"/>
                </a:solidFill>
              </a:rPr>
              <a:t>: </a:t>
            </a:r>
            <a:r>
              <a:rPr dirty="0">
                <a:solidFill>
                  <a:srgbClr val="334155"/>
                </a:solidFill>
              </a:rPr>
              <a:t>Menu </a:t>
            </a:r>
            <a:r>
              <a:rPr dirty="0" err="1">
                <a:solidFill>
                  <a:srgbClr val="334155"/>
                </a:solidFill>
              </a:rPr>
              <a:t>perintah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kilat</a:t>
            </a:r>
            <a:r>
              <a:rPr dirty="0">
                <a:solidFill>
                  <a:srgbClr val="334155"/>
                </a:solidFill>
              </a:rPr>
              <a:t> Slash Command Menu (/), drag-and-drop, dan </a:t>
            </a:r>
            <a:r>
              <a:rPr dirty="0" err="1">
                <a:solidFill>
                  <a:srgbClr val="334155"/>
                </a:solidFill>
              </a:rPr>
              <a:t>duplikasi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blok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instan</a:t>
            </a:r>
            <a:r>
              <a:rPr dirty="0">
                <a:solidFill>
                  <a:srgbClr val="334155"/>
                </a:solidFill>
              </a:rPr>
              <a:t>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Dukungan</a:t>
            </a:r>
            <a:r>
              <a:rPr b="1" dirty="0">
                <a:solidFill>
                  <a:srgbClr val="0F172A"/>
                </a:solidFill>
              </a:rPr>
              <a:t> </a:t>
            </a:r>
            <a:r>
              <a:rPr b="1" dirty="0" err="1">
                <a:solidFill>
                  <a:srgbClr val="0F172A"/>
                </a:solidFill>
              </a:rPr>
              <a:t>Praktikum</a:t>
            </a:r>
            <a:r>
              <a:rPr b="1" dirty="0">
                <a:solidFill>
                  <a:srgbClr val="0F172A"/>
                </a:solidFill>
              </a:rPr>
              <a:t> Lab: </a:t>
            </a:r>
            <a:r>
              <a:rPr dirty="0" err="1">
                <a:solidFill>
                  <a:srgbClr val="334155"/>
                </a:solidFill>
              </a:rPr>
              <a:t>Memfasilitasi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modul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perkuliahan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teori</a:t>
            </a:r>
            <a:r>
              <a:rPr dirty="0">
                <a:solidFill>
                  <a:srgbClr val="334155"/>
                </a:solidFill>
              </a:rPr>
              <a:t>, </a:t>
            </a:r>
            <a:r>
              <a:rPr dirty="0" err="1">
                <a:solidFill>
                  <a:srgbClr val="334155"/>
                </a:solidFill>
              </a:rPr>
              <a:t>repositori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kode</a:t>
            </a:r>
            <a:r>
              <a:rPr dirty="0">
                <a:solidFill>
                  <a:srgbClr val="334155"/>
                </a:solidFill>
              </a:rPr>
              <a:t>, </a:t>
            </a:r>
            <a:r>
              <a:rPr dirty="0" err="1">
                <a:solidFill>
                  <a:srgbClr val="334155"/>
                </a:solidFill>
              </a:rPr>
              <a:t>lembar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kerja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praktikum</a:t>
            </a:r>
            <a:r>
              <a:rPr dirty="0">
                <a:solidFill>
                  <a:srgbClr val="334155"/>
                </a:solidFill>
              </a:rPr>
              <a:t> (LKP), dan simulator virtual lab.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Sanitasi</a:t>
            </a:r>
            <a:r>
              <a:rPr b="1" dirty="0">
                <a:solidFill>
                  <a:srgbClr val="0F172A"/>
                </a:solidFill>
              </a:rPr>
              <a:t> </a:t>
            </a:r>
            <a:r>
              <a:rPr b="1" dirty="0" err="1">
                <a:solidFill>
                  <a:srgbClr val="0F172A"/>
                </a:solidFill>
              </a:rPr>
              <a:t>Keamanan</a:t>
            </a:r>
            <a:r>
              <a:rPr b="1" dirty="0">
                <a:solidFill>
                  <a:srgbClr val="0F172A"/>
                </a:solidFill>
              </a:rPr>
              <a:t> Anti-XSS: </a:t>
            </a:r>
            <a:r>
              <a:rPr dirty="0" err="1">
                <a:solidFill>
                  <a:srgbClr val="334155"/>
                </a:solidFill>
              </a:rPr>
              <a:t>Seluruh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blok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disaring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ketat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dengan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DOMPurify</a:t>
            </a:r>
            <a:r>
              <a:rPr dirty="0">
                <a:solidFill>
                  <a:srgbClr val="334155"/>
                </a:solidFill>
              </a:rPr>
              <a:t> dan </a:t>
            </a:r>
            <a:r>
              <a:rPr dirty="0" err="1">
                <a:solidFill>
                  <a:srgbClr val="334155"/>
                </a:solidFill>
              </a:rPr>
              <a:t>validasi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skema</a:t>
            </a:r>
            <a:r>
              <a:rPr dirty="0">
                <a:solidFill>
                  <a:srgbClr val="334155"/>
                </a:solidFill>
              </a:rPr>
              <a:t> runtime Zod di backend.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11 Tipe Blok yang Didukung Lengkap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paragraph dan heading: </a:t>
            </a:r>
            <a:r>
              <a:rPr>
                <a:solidFill>
                  <a:srgbClr val="334155"/>
                </a:solidFill>
              </a:rPr>
              <a:t>Teks kaya inline (Tebal, Miring, Tautan, Warna) dan Heading H1/H2/H3 dengan anchor link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image dan file_attachment: </a:t>
            </a:r>
            <a:r>
              <a:rPr>
                <a:solidFill>
                  <a:srgbClr val="334155"/>
                </a:solidFill>
              </a:rPr>
              <a:t>Unggah gambar via paste (Ctrl+V) / drag-and-drop terhubung ke File Service; kartu berkas lampiran dengan download counter.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code_snippet: </a:t>
            </a:r>
            <a:r>
              <a:rPr>
                <a:solidFill>
                  <a:srgbClr val="334155"/>
                </a:solidFill>
              </a:rPr>
              <a:t>Penyorotan sintaks (syntax highlight) untuk 30+ bahasa pemrograman, nomor baris, dan tombol Copy-to-Clipboard.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math_latex: </a:t>
            </a:r>
            <a:r>
              <a:rPr>
                <a:solidFill>
                  <a:srgbClr val="334155"/>
                </a:solidFill>
              </a:rPr>
              <a:t>Persamaan rumus matematika/sains kompleks berbasis KaTeX ($$ \int f(x)dx $$).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callout dan checklist: </a:t>
            </a:r>
            <a:r>
              <a:rPr>
                <a:solidFill>
                  <a:srgbClr val="334155"/>
                </a:solidFill>
              </a:rPr>
              <a:t>Kotak peringatan berikon formal (NOTE, TIP, IMPORTANT, WARNING) dan daftar todo list interaktif tahapan praktikum.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table, embed_media, divider: </a:t>
            </a:r>
            <a:r>
              <a:rPr>
                <a:solidFill>
                  <a:srgbClr val="334155"/>
                </a:solidFill>
              </a:rPr>
              <a:t>Tabel baris/kolom responsif, embed YouTube/Simulator, dan garis pemisah subtopik.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MESIN PROGRES BELAJAR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Pelacakan Progres Granular: Video Anti-Skip dan Slide Halaman Unik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1. Video Tracking Anti-Skip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Metrik Presisi: </a:t>
            </a:r>
            <a:r>
              <a:rPr>
                <a:solidFill>
                  <a:srgbClr val="334155"/>
                </a:solidFill>
              </a:rPr>
              <a:t>Mencatat watchedSeconds, lastPositionSeconds, dan percentCompleted.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Prinsip Monotonic Increase: </a:t>
            </a:r>
            <a:r>
              <a:rPr>
                <a:solidFill>
                  <a:srgbClr val="334155"/>
                </a:solidFill>
              </a:rPr>
              <a:t>Progres tontonan HANYA boleh bertambah, tidak pernah mundur.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Anti Multi-Tab Exploitation: </a:t>
            </a:r>
            <a:r>
              <a:rPr>
                <a:solidFill>
                  <a:srgbClr val="334155"/>
                </a:solidFill>
              </a:rPr>
              <a:t>Menggunakan isolasi transaksi Serializable pada Prisma untuk mencegah manipulasi progres saat video diputar di banyak tab bersamaan.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Heartbeat Periodik: </a:t>
            </a:r>
            <a:r>
              <a:rPr>
                <a:solidFill>
                  <a:srgbClr val="334155"/>
                </a:solidFill>
              </a:rPr>
              <a:t>Sinyal heartbeat dikirim setiap 5 detik dengan mekanisme debounce antrean di Redis.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2. Slide dan PDF Page Tracking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Array Halaman Unik: </a:t>
            </a:r>
            <a:r>
              <a:rPr>
                <a:solidFill>
                  <a:srgbClr val="334155"/>
                </a:solidFill>
              </a:rPr>
              <a:t>Menyimpan daftar integer halaman yang benar-benar dibuka: viewedPages: [1, 2, 3, 5].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Cegah Langsung ke Akhir: </a:t>
            </a:r>
            <a:r>
              <a:rPr>
                <a:solidFill>
                  <a:srgbClr val="334155"/>
                </a:solidFill>
              </a:rPr>
              <a:t>Mahasiswa yang melompat dari halaman 1 langsung ke halaman 50 hanya tercatat progres 4% (2/50 halaman).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Formula Akurat: </a:t>
            </a:r>
            <a:r>
              <a:rPr>
                <a:solidFill>
                  <a:srgbClr val="334155"/>
                </a:solidFill>
              </a:rPr>
              <a:t>Persen = (viewedPages.length / totalPages) * 100%.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Validasi Kasus Batas: </a:t>
            </a:r>
            <a:r>
              <a:rPr>
                <a:solidFill>
                  <a:srgbClr val="334155"/>
                </a:solidFill>
              </a:rPr>
              <a:t>Nomor halaman divalidasi ketat: 1 &lt;= page &lt;= totalPages.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3. Download dan Agregasi Kelas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Aset Praktikum Lab: </a:t>
            </a:r>
            <a:r>
              <a:rPr>
                <a:solidFill>
                  <a:srgbClr val="334155"/>
                </a:solidFill>
              </a:rPr>
              <a:t>Mencatat event MaterialDownload secara idempotent saat mahasiswa mengunduh dataset CSV/ZIP.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Completion Criteria: </a:t>
            </a:r>
            <a:r>
              <a:rPr>
                <a:solidFill>
                  <a:srgbClr val="334155"/>
                </a:solidFill>
              </a:rPr>
              <a:t>Dosen dapat mengatur kriteria penyelesaian: MIN_WATCH_PERCENT, ALL_PAGES_VIEWED, CONFIRMED_DOWNLOAD.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Agregasi Terbobot: </a:t>
            </a:r>
            <a:r>
              <a:rPr>
                <a:solidFill>
                  <a:srgbClr val="334155"/>
                </a:solidFill>
              </a:rPr>
              <a:t>Sistem mengagregasi progres individu mahasiswa ke dalam capaian rombongan belajar kelas secara real-time.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Transparansi Dosen: </a:t>
            </a:r>
            <a:r>
              <a:rPr>
                <a:solidFill>
                  <a:srgbClr val="334155"/>
                </a:solidFill>
              </a:rPr>
              <a:t>Dosen dapat melihat persentase progres belajar setiap mahasiswa di Gradebook.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BAB 5: KUIS DAN 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Bank Soal dan Rincian Lengkap 8 Tipe Soal Kuis Komprehensif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6 Tipe Soal Dinilai Otomatis (Auto-Graded)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SINGLE_CHOICE (Pilihan Ganda): </a:t>
            </a:r>
            <a:r>
              <a:rPr>
                <a:solidFill>
                  <a:srgbClr val="334155"/>
                </a:solidFill>
              </a:rPr>
              <a:t>Memilih 1 opsi benar dari A s.d. E via radio button. Dilengkapi pengacakan urutan opsi.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MULTIPLE_SELECT (Pilihan Jamak): </a:t>
            </a:r>
            <a:r>
              <a:rPr>
                <a:solidFill>
                  <a:srgbClr val="334155"/>
                </a:solidFill>
              </a:rPr>
              <a:t>Memilih &gt;= 1 opsi benar via checkbox. Mendukung mode All-or-Nothing atau Partial Credit proporsional.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TRUE_FALSE (Benar / Salah): </a:t>
            </a:r>
            <a:r>
              <a:rPr>
                <a:solidFill>
                  <a:srgbClr val="334155"/>
                </a:solidFill>
              </a:rPr>
              <a:t>Memilih pernyataan Benar atau Salah secara instan.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SHORT_ANSWER (Isian Singkat / Numerik): </a:t>
            </a:r>
            <a:r>
              <a:rPr>
                <a:solidFill>
                  <a:srgbClr val="334155"/>
                </a:solidFill>
              </a:rPr>
              <a:t>Input kata kunci eksak atau nilai numerik dengan rentang toleransi presisi (misal: 9.8 +/- 0.1).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MATCHING (Menjodohkan Pasangan): </a:t>
            </a:r>
            <a:r>
              <a:rPr>
                <a:solidFill>
                  <a:srgbClr val="334155"/>
                </a:solidFill>
              </a:rPr>
              <a:t>Memasangkan istilah/premis di kolom kiri dengan definisi di kolom kanan via dropdown interaktif.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ORDERING (Mengurutkan Prosedur): </a:t>
            </a:r>
            <a:r>
              <a:rPr>
                <a:solidFill>
                  <a:srgbClr val="334155"/>
                </a:solidFill>
              </a:rPr>
              <a:t>Mengurutkan tahapan praktikum lab, flowchart, atau baris algoritma dengan drag-and-drop.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 Tipe Soal Dinilai Dosen dan Fitur Ujian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ESSAY (Uraian Panjang Terformat): </a:t>
            </a:r>
            <a:r>
              <a:rPr>
                <a:solidFill>
                  <a:srgbClr val="334155"/>
                </a:solidFill>
              </a:rPr>
              <a:t>Jawaban teks kaya / formula rumus LaTeX dengan batasan kata, rubrik penilaian dosen, dan catatan feedback.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FILE_UPLOAD (Lembar Kerja / Kode): </a:t>
            </a:r>
            <a:r>
              <a:rPr>
                <a:solidFill>
                  <a:srgbClr val="334155"/>
                </a:solidFill>
              </a:rPr>
              <a:t>Mahasiswa mengunggah foto coretan tangan, laporan analisa PDF, atau skrip kode program praktikum (.py/.cpp).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Bank Soal Mata Kuliah: </a:t>
            </a:r>
            <a:r>
              <a:rPr>
                <a:solidFill>
                  <a:srgbClr val="334155"/>
                </a:solidFill>
              </a:rPr>
              <a:t>Soal tersimpan terpusat di QuestionBank tingkat mata kuliah untuk digunakan berulang di berbagai kelas rombel.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Pengacakan Ganda: </a:t>
            </a:r>
            <a:r>
              <a:rPr>
                <a:solidFill>
                  <a:srgbClr val="334155"/>
                </a:solidFill>
              </a:rPr>
              <a:t>Acak urutan nomor soal (Shuffle Questions) dan acak urutan opsi jawaban (Shuffle Options) untuk mitigasi kecurangan.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Penyimpanan Real-Time 3 Detik: </a:t>
            </a:r>
            <a:r>
              <a:rPr>
                <a:solidFill>
                  <a:srgbClr val="334155"/>
                </a:solidFill>
              </a:rPr>
              <a:t>Setiap jawaban autosave setiap 3 detik. Listrik padam / disconnect tidak menghilangkan jawaban!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PEMBOBOTAN KUIS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Pembobotan Kustom Butir Soal dan Penjaminan Total Nilai Selalu Skala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Kustomisasi Poin Bebas per Butir Soal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Kendali Penuh Dosen: </a:t>
            </a:r>
            <a:r>
              <a:rPr>
                <a:solidFill>
                  <a:srgbClr val="334155"/>
                </a:solidFill>
              </a:rPr>
              <a:t>Dosen bebas memberi bobot poin berbeda pada tiap nomor soal (misal: Soal Analisis Kasus = 40 poin, Soal Teori Ringkas = 15 poin).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Live Points Counter Bar: </a:t>
            </a:r>
            <a:r>
              <a:rPr>
                <a:solidFill>
                  <a:srgbClr val="334155"/>
                </a:solidFill>
              </a:rPr>
              <a:t>Antarmuka editor kuis menampilkan akumulasi poin secara real-time saat dosen mengedit nilai butir soal: 'Total Poin: 75 / 100 - Kurang 25 Poin lagi'.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Tombol Cerdas Bagi Rata: </a:t>
            </a:r>
            <a:r>
              <a:rPr>
                <a:solidFill>
                  <a:srgbClr val="334155"/>
                </a:solidFill>
              </a:rPr>
              <a:t>Disediakan tombol [Auto-Distribute Remaining Points] untuk mendistribusikan sisa poin ke seluruh butir soal secara proporsional dengan 1 klik.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Partial Credit Pilihan Jamak: </a:t>
            </a:r>
            <a:r>
              <a:rPr>
                <a:solidFill>
                  <a:srgbClr val="334155"/>
                </a:solidFill>
              </a:rPr>
              <a:t>Pada soal Multiple Select 20 poin dengan 4 kunci benar, jika mahasiswa memilih 2 benar tanpa salah, sistem otomatis memberi 10.0 poin.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 Mode Penjaminan Nilai Selalu Skala 100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Mode 1: Validasi Ketat 100 Poin: </a:t>
            </a:r>
            <a:r>
              <a:rPr>
                <a:solidFill>
                  <a:srgbClr val="334155"/>
                </a:solidFill>
              </a:rPr>
              <a:t>Total akumulasi seluruh butir soal wajib tepat berjumlah 100.0 (sum of points = 100.0). Kuis diblokir dari publikasi jika total poin belum tepat 100.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Mode 2: Normalisasi Otomatis ke Skala 100: </a:t>
            </a:r>
            <a:r>
              <a:rPr>
                <a:solidFill>
                  <a:srgbClr val="334155"/>
                </a:solidFill>
              </a:rPr>
              <a:t>Jika dosen membuat kuis dengan akumulasi poin mentah selain 100 (misal: 14 soal dengan total akumulasi poin mentah = 70), sistem mengonversi otomatis nilai perolehan mahasiswa ke skala standar 100: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Formula Normalisasi: </a:t>
            </a:r>
            <a:r>
              <a:rPr>
                <a:solidFill>
                  <a:srgbClr val="334155"/>
                </a:solidFill>
              </a:rPr>
              <a:t>Nilai Kuis (0 - 100) = (Total Poin Diperoleh / Total Poin Mentah Soal) * 100.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Hasil Presisi 2 Desimal: </a:t>
            </a:r>
            <a:r>
              <a:rPr>
                <a:solidFill>
                  <a:srgbClr val="334155"/>
                </a:solidFill>
              </a:rPr>
              <a:t>Disimpan rapi dengan pembulatan 2 angka desimal (misal: 88.57) untuk memudahkan integrasi Gradebook.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7: PENILAIAN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Alur Penilaian Soal Essay Dosen dan Sistem Skoring Hibrida Terpadu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09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Siklus Hidup Attempt Hibrida (State Machine)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1: Submit Kuis: </a:t>
            </a:r>
            <a:r>
              <a:rPr>
                <a:solidFill>
                  <a:srgbClr val="334155"/>
                </a:solidFill>
              </a:rPr>
              <a:t>Mahasiswa mengirimkan kuis. Sistem seketika memeriksa seluruh soal objektif (Auto-Graded). Diperoleh skor sementara objektif (misal: 50.0 / 60.0).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2: Status NEEDS_GRADING: </a:t>
            </a:r>
            <a:r>
              <a:rPr>
                <a:solidFill>
                  <a:srgbClr val="334155"/>
                </a:solidFill>
              </a:rPr>
              <a:t>Status attempt kuis menjadi NEEDS_GRADING. Mahasiswa melihat pesan transparan: 'Skor Objektif Sementara: 50.0. Jawaban Essay sedang dinilai Dosen'.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3: Badge Antrean Dosen: </a:t>
            </a:r>
            <a:r>
              <a:rPr>
                <a:solidFill>
                  <a:srgbClr val="334155"/>
                </a:solidFill>
              </a:rPr>
              <a:t>Dashboard dosen menampilkan lencana antrean: '35 Jawaban Perlu Dinilai pada Kuis [Nama Kuis]'.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4: Finalisasi Skor Skala 100: </a:t>
            </a:r>
            <a:r>
              <a:rPr>
                <a:solidFill>
                  <a:srgbClr val="334155"/>
                </a:solidFill>
              </a:rPr>
              <a:t>Skor Akhir = Skor Objektif (50.0) + Skor Essay Dosen (35.0) = 85.0 / 100.0. Status berubah menjadi GRADED_COMPLETE.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Fitur Unggulan Panel Penilaian Dosen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Mode 1: Grading by Student: </a:t>
            </a:r>
            <a:r>
              <a:rPr>
                <a:solidFill>
                  <a:srgbClr val="334155"/>
                </a:solidFill>
              </a:rPr>
              <a:t>Dosen membuka lembar jawaban 1 mahasiswa secara penuh untuk membaca seluruh butir essay mahasiswa tersebut sekaligus.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Mode 2: Batch Grading by Question: </a:t>
            </a:r>
            <a:r>
              <a:rPr>
                <a:solidFill>
                  <a:srgbClr val="334155"/>
                </a:solidFill>
              </a:rPr>
              <a:t>Dosen menilai Soal No. 5 untuk seluruh 40 mahasiswa secara berurutan. Sangat efisien, hemat waktu, dan menjaga konsistensi standar rubrik nilai!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Rubrik Penilaian Terstruktur: </a:t>
            </a:r>
            <a:r>
              <a:rPr>
                <a:solidFill>
                  <a:srgbClr val="334155"/>
                </a:solidFill>
              </a:rPr>
              <a:t>Dosen dapat mengklik kriteria rubrik (Analisis 15 poin, Sintaks 15 poin, Kerapihan 10 poin) untuk mengisi skor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Jejak Audit Koreksi Nilai: </a:t>
            </a:r>
            <a:r>
              <a:rPr>
                <a:solidFill>
                  <a:srgbClr val="334155"/>
                </a:solidFill>
              </a:rPr>
              <a:t>Jika nilai dikoreksi pasca publikasi, sistem mewajibkan pengisian alasan perubahan dan mencatat before-after snapshot di AuditLog.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5: GRADEBOOK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Pembobotan Nilai Otomatis: Pengajar Tidak Perlu Menghitung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10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Skema Kategori Penilaian Berbobot Kelas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Tugas dan Laporan Praktikum (25%): </a:t>
            </a:r>
            <a:r>
              <a:rPr>
                <a:solidFill>
                  <a:srgbClr val="334155"/>
                </a:solidFill>
              </a:rPr>
              <a:t>Rata-rata seluruh penugasan &amp; laporan praktikum lab (Assignments) terhitung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Kuis dan Responsi (15%): </a:t>
            </a:r>
            <a:r>
              <a:rPr>
                <a:solidFill>
                  <a:srgbClr val="334155"/>
                </a:solidFill>
              </a:rPr>
              <a:t>Akumulasi seluruh kuis objektif dan essay yang telah dinilai.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Evaluasi UTS (25%) dan UAS (25%): </a:t>
            </a:r>
            <a:r>
              <a:rPr>
                <a:solidFill>
                  <a:srgbClr val="334155"/>
                </a:solidFill>
              </a:rPr>
              <a:t>Ujian evaluasi tengah dan akhir semester.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Partisipasi dan Progres Belajar (10%): </a:t>
            </a:r>
            <a:r>
              <a:rPr>
                <a:solidFill>
                  <a:srgbClr val="334155"/>
                </a:solidFill>
              </a:rPr>
              <a:t>Diambil otomatis dari persentase penyelesaian modul, video, dan slide belajar.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Validasi Total Bobot Tepat 100.0%: </a:t>
            </a:r>
            <a:r>
              <a:rPr>
                <a:solidFill>
                  <a:srgbClr val="334155"/>
                </a:solidFill>
              </a:rPr>
              <a:t>Sistem memastikan sum of weights = 100.0% sebelum nilai akhir dapat dikunci dan dipublikasikan.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Kalkulasi Instan dan Konversi Huruf Resmi UAY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Formula Nilai Akhir Otomatis: </a:t>
            </a:r>
            <a:r>
              <a:rPr>
                <a:solidFill>
                  <a:srgbClr val="334155"/>
                </a:solidFill>
              </a:rPr>
              <a:t>Nilai Akhir = sum(Rata-rata Skor Kategori_k * Bobot Kategori_k / 100).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Konversi Huruf Mutu Standar UAY: </a:t>
            </a:r>
            <a:r>
              <a:rPr>
                <a:solidFill>
                  <a:srgbClr val="334155"/>
                </a:solidFill>
              </a:rPr>
              <a:t>Skor &gt;= 85 -&gt; A (4.00) | 80-84.9 -&gt; A- (3.75) | 75-79.9 -&gt; B+ (3.50) | 70-74.9 -&gt; B (3.00) | 65-69.9 -&gt; B- (2.75) | 60-64.9 -&gt; C+ (2.50) | 55-59.9 -&gt; C (2.00) | 45-54.9 -&gt; D (1.00) | &lt; 45 -&gt; E (0.00).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Draft vs Published Gradebook: </a:t>
            </a:r>
            <a:r>
              <a:rPr>
                <a:solidFill>
                  <a:srgbClr val="334155"/>
                </a:solidFill>
              </a:rPr>
              <a:t>Dosen dapat meninjau rekap nilai dalam status Draft sebelum dikunci (isLocked = true) dan dipublikasikan resmi.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Ekspor dan Sinkronisasi Akademik: </a:t>
            </a:r>
            <a:r>
              <a:rPr>
                <a:solidFill>
                  <a:srgbClr val="334155"/>
                </a:solidFill>
              </a:rPr>
              <a:t>Rekap nilai akhir dapat diekspor ke Excel atau disinkronkan langsung ke sistem akademik institusi.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EFISIENSI PENGELOLA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Mesin Import Massal: Review Interaktif, Deteksi Cacat, &amp; Rekonsiliasi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11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1. Review Interaktif &amp; Panel Diff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Human-in-the-Loop: </a:t>
            </a:r>
            <a:r>
              <a:rPr>
                <a:solidFill>
                  <a:srgbClr val="334155"/>
                </a:solidFill>
              </a:rPr>
              <a:t>Sistem tidak pernah menolak seluruh berkas secara kaku. Pengguna diberikan kendali penuh meninjau data sebelum commit.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Tampilan Diff Anomali: </a:t>
            </a:r>
            <a:r>
              <a:rPr>
                <a:solidFill>
                  <a:srgbClr val="334155"/>
                </a:solidFill>
              </a:rPr>
              <a:t>Menyajikan perbandingan baris valid vs cacat (contoh: 100 baris total -&gt; 96 siap impor, 4 bermasalah).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Daftar Kendala Spesifik: </a:t>
            </a:r>
            <a:r>
              <a:rPr>
                <a:solidFill>
                  <a:srgbClr val="334155"/>
                </a:solidFill>
              </a:rPr>
              <a:t>Menampilkan nomor baris, nilai data yang bermasalah, dan badge penyebab kendala secara transparan.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2. Deteksi Cacat &amp; Duplikasi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Data Tidak Lengkap: </a:t>
            </a:r>
            <a:r>
              <a:rPr>
                <a:solidFill>
                  <a:srgbClr val="334155"/>
                </a:solidFill>
              </a:rPr>
              <a:t>Mendeteksi kolom esensial yang kosong (NIM, teks pertanyaan, atau nilai ujian).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Duplikasi Internal Berkas: </a:t>
            </a:r>
            <a:r>
              <a:rPr>
                <a:solidFill>
                  <a:srgbClr val="334155"/>
                </a:solidFill>
              </a:rPr>
              <a:t>Mendeteksi baris kembar di dalam berkas impor (misal 2 baris bernomor NIM sama).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Konflik Basis Data: </a:t>
            </a:r>
            <a:r>
              <a:rPr>
                <a:solidFill>
                  <a:srgbClr val="334155"/>
                </a:solidFill>
              </a:rPr>
              <a:t>Mendeteksi rekaman yang sudah eksis di database (mahasiswa sudah terdaftar di rombel).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Validasi Format &amp; Rentang: </a:t>
            </a:r>
            <a:r>
              <a:rPr>
                <a:solidFill>
                  <a:srgbClr val="334155"/>
                </a:solidFill>
              </a:rPr>
              <a:t>Memverifikasi batas skor (0-100), kesesuaian kunci kuis terhadap opsi A-E, dan format email SSO.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3. Tindakan Koreksi Pengguna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Hapus / Abaikan (Exclude): </a:t>
            </a:r>
            <a:r>
              <a:rPr>
                <a:solidFill>
                  <a:srgbClr val="334155"/>
                </a:solidFill>
              </a:rPr>
              <a:t>Pengguna dapat mengabaikan baris bermasalah; baris valid lainnya tetap dapat diimpor mulus.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Edit Langsung di Tabel: </a:t>
            </a:r>
            <a:r>
              <a:rPr>
                <a:solidFill>
                  <a:srgbClr val="334155"/>
                </a:solidFill>
              </a:rPr>
              <a:t>Inline live editing pada antarmuka web tanpa perlu mengunggah ulang file Excel dari awal.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Tambahkan / Timpa (Override): </a:t>
            </a:r>
            <a:r>
              <a:rPr>
                <a:solidFill>
                  <a:srgbClr val="334155"/>
                </a:solidFill>
              </a:rPr>
              <a:t>Opsi menimpa (upsert) data lama atau membuat entitas baru untuk kasus konflik basis data.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Simpan Transaksi Atomik: </a:t>
            </a:r>
            <a:r>
              <a:rPr>
                <a:solidFill>
                  <a:srgbClr val="334155"/>
                </a:solidFill>
              </a:rPr>
              <a:t>Menyimpan seluruh data yang disetujui dalam 1 transaksi database Read Committed.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KETAHANAN KLIEN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Penyimpanan Draf Lokal (IndexedDB) dan Manajemen Eviksi Penyimpanan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Autosave Lokal dan Pemulihan Otomatis (Crash Recovery)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Masalah di Lapangan: </a:t>
            </a:r>
            <a:r>
              <a:rPr>
                <a:solidFill>
                  <a:srgbClr val="334155"/>
                </a:solidFill>
              </a:rPr>
              <a:t>Koneksi Wi-Fi kampus putus, laptop mati mendadak, atau browser reload saat dosen mengetik materi panjang atau mahasiswa menulis essay.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Solusi: IndexedDB Autosave: </a:t>
            </a:r>
            <a:r>
              <a:rPr>
                <a:solidFill>
                  <a:srgbClr val="334155"/>
                </a:solidFill>
              </a:rPr>
              <a:t>Menyimpan snapshot draf secara asinkronus ke IndexedDB browser (bukan LocalStorage biasa) dengan debounce interval 2000ms.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Deteksi Draf Otomatis: </a:t>
            </a:r>
            <a:r>
              <a:rPr>
                <a:solidFill>
                  <a:srgbClr val="334155"/>
                </a:solidFill>
              </a:rPr>
              <a:t>Saat editor dibuka kembali, jika timestamp lokal &gt; server, muncul banner: 'Ditemukan draf lokal terbaru dari [Waktu]. [Pulihkan Draf]'.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Indikator UI Halus: </a:t>
            </a:r>
            <a:r>
              <a:rPr>
                <a:solidFill>
                  <a:srgbClr val="334155"/>
                </a:solidFill>
              </a:rPr>
              <a:t>Menampilkan status visual 'Draf tersimpan lokal • 12:40 WIB' tanpa mengganggu fokus pengguna.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B45309"/>
                </a:solidFill>
              </a:defRPr>
            </a:pPr>
            <a:r>
              <a:t>Manajemen Eviksi Penyimpanan (Anti-Membengkak)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Batas Alokasi Kuota 15 MB: </a:t>
            </a:r>
            <a:r>
              <a:rPr>
                <a:solidFill>
                  <a:srgbClr val="334155"/>
                </a:solidFill>
              </a:rPr>
              <a:t>Kapasitas draf lokal dibatasi maksimal 15 MB per pengguna di perangkatnya.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Masa Berlaku Draf 14 Hari (TTL): </a:t>
            </a:r>
            <a:r>
              <a:rPr>
                <a:solidFill>
                  <a:srgbClr val="334155"/>
                </a:solidFill>
              </a:rPr>
              <a:t>Draf yang tidak disentuh atau dipulihkan dalam 14 hari akan otomatis dibersihkan sistem (Auto-Expunged).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Kebijakan Eviksi LRU: </a:t>
            </a:r>
            <a:r>
              <a:rPr>
                <a:solidFill>
                  <a:srgbClr val="334155"/>
                </a:solidFill>
              </a:rPr>
              <a:t>Jika kuota mendekati batas 15 MB atau 50 item, sistem menghapus draf kedaluwarsa dan draf tersinkronisasi terlebih dahulu, lalu menghapus draf tertua (Least Recently Used).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Auto-Purge Pasca-Simpan Sukses: </a:t>
            </a:r>
            <a:r>
              <a:rPr>
                <a:solidFill>
                  <a:srgbClr val="334155"/>
                </a:solidFill>
              </a:rPr>
              <a:t>Saat tombol 'Simpan/Publikasi' berhasil dieksekusi ke server, draf pada IndexedDB seketika dihapus permanen sehingga penyimpanan tetap bersih.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Menu Kontrol Mandiri: </a:t>
            </a:r>
            <a:r>
              <a:rPr>
                <a:solidFill>
                  <a:srgbClr val="334155"/>
                </a:solidFill>
              </a:rPr>
              <a:t>Disediakan tombol 'Hapus Semua Draf Lokal' pada menu profil pengguna.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BAB 8: UMPAN BALIK DAN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Sistem Umpan Balik (Feedback dan Blocker) dan Jejak Audit Before-After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Standar 4 Status Respon Interaksi Sistem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- 1. SUCCESS STATE (Berhasil): </a:t>
            </a:r>
            <a:r>
              <a:rPr>
                <a:solidFill>
                  <a:srgbClr val="334155"/>
                </a:solidFill>
              </a:rPr>
              <a:t>Banner konfirmasi hijau seketika dengan timestamp presisi &amp; nomor versi: 'Tugas berhasil dikumpulkan pada 03 Sep 2026, 11:15 WIB (Versi 2 - On Time)'.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- 2. FAILURE STATE (Gagal Sementara): </a:t>
            </a:r>
            <a:r>
              <a:rPr>
                <a:solidFill>
                  <a:srgbClr val="334155"/>
                </a:solidFill>
              </a:rPr>
              <a:t>Pesan kesalahan ramah pengguna dengan tombol tindakan langsung: 'Gagal mengunggah berkas karena jaringan terputus. Silakan klik Coba Lagi'.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- 3. BLOCKER STATE (Kendala Akses): </a:t>
            </a:r>
            <a:r>
              <a:rPr>
                <a:solidFill>
                  <a:srgbClr val="334155"/>
                </a:solidFill>
              </a:rPr>
              <a:t>Penjelasan eksplisit mengapa aksi diblokir: 'Kuis belum dapat dikerjakan karena jadwal baru dibuka pada 10 Sep 2026 pukul 08.00 WIB' atau 'Pengumpulan ditolak karena melewati batas cutoff'.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- 4. PROGRESS dan ANTI DOUBLE-SUBMIT: </a:t>
            </a:r>
            <a:r>
              <a:rPr>
                <a:solidFill>
                  <a:srgbClr val="334155"/>
                </a:solidFill>
              </a:rPr>
              <a:t>Progress bar persentase upload berkas (0-100%) dan penguncian tombol dengan Idempotency Token di Redis agar klik ganda tidak membuat duplikat.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Jejak Audit Mendalam (Before-After State Snapshot)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Integritas Akademik Mutlak: </a:t>
            </a:r>
            <a:r>
              <a:rPr>
                <a:solidFill>
                  <a:srgbClr val="334155"/>
                </a:solidFill>
              </a:rPr>
              <a:t>Seluruh aksi mutasi data kritis wajib mencatat kondisi sebelum (beforeState) dan sesudah (afterState) ke tabel AuditLog.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Titik Kritis yang Diaudit: </a:t>
            </a:r>
            <a:r>
              <a:rPr>
                <a:solidFill>
                  <a:srgbClr val="334155"/>
                </a:solidFill>
              </a:rPr>
              <a:t>Koreksi Nilai Dosen (wajib menyertakan alasan/reason), Pengumpulan Ulang Tugas Berversi, Pengubahan Konfigurasi Kuis Aktif, Mutasi Anggota Kelas, dan Peran Pengguna.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Metadata Lengkap: </a:t>
            </a:r>
            <a:r>
              <a:rPr>
                <a:solidFill>
                  <a:srgbClr val="334155"/>
                </a:solidFill>
              </a:rPr>
              <a:t>Mencatat actorId, actorRole, clientIp, userAgent, entityId, timestamp presisi milidetik, dan requestId.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Penyelesaian Sengketa Nilai: </a:t>
            </a:r>
            <a:r>
              <a:rPr>
                <a:solidFill>
                  <a:srgbClr val="334155"/>
                </a:solidFill>
              </a:rPr>
              <a:t>Jika terjadi komplain nilai mahasiswa, institusi dapat merekonstruksi riwayat pengubahan nilai detik demi detik.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5: RANCANGAN BASIS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Diagram Relasi Entitas (Entity-Relationship Diagram / ERD) E-Learning UAY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286000" cy="12344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286000" cy="2159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Course (Katalog Induk)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87500"/>
            <a:ext cx="2286000" cy="1018540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code: String (IF101)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title: String, sks: Int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department: String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status: PUBLISHED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1828800"/>
            <a:ext cx="365760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800" y="166420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371600"/>
            <a:ext cx="2468880" cy="12801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74720" y="1371600"/>
            <a:ext cx="2468880" cy="2159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CourseClass (Rombel)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587500"/>
            <a:ext cx="2468880" cy="1064260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courseId: Course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name: String (A-20261)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academicYear: 2026/2027 Ganjil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status: DRAFT/PUB/ARCHIVED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5989320" y="1828800"/>
            <a:ext cx="365760" cy="146304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166420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n..1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371600"/>
            <a:ext cx="2194560" cy="12344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0" y="1371600"/>
            <a:ext cx="2194560" cy="2159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Enrollment (Peserta)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87500"/>
            <a:ext cx="2194560" cy="1018540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userId: User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classId: CourseClass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role: STUDENT / ASST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status: ACTIVE / DROPPED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8641080" y="1828800"/>
            <a:ext cx="365760" cy="146304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166420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371600"/>
            <a:ext cx="2377440" cy="12344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052560" y="1371600"/>
            <a:ext cx="2377440" cy="2159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User (Identity SSO)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587500"/>
            <a:ext cx="2377440" cy="1018540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ssoSubjectId: String (Unique)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role: SUPERADMIN/ADMIN/LECT/STUD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email, name, nim, nidn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accountStatus: ACTIVE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617720" y="2697480"/>
            <a:ext cx="164592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18888" y="2729484"/>
            <a:ext cx="4572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2971800"/>
            <a:ext cx="246888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474720" y="2971800"/>
            <a:ext cx="2468880" cy="2159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Section (Pertemuan 1-16)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187700"/>
            <a:ext cx="2468880" cy="972820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classId: CourseClass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title: String, orderIndex: Int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sessionType: LECTURE/LAB/EXAM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isPublished: Boolean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971800"/>
            <a:ext cx="219456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00800" y="2971800"/>
            <a:ext cx="2194560" cy="2159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GradeCategory (Bobot 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187700"/>
            <a:ext cx="2194560" cy="972820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classId: CourseClass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name: TUGAS/KUIS/UTS/UAS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weightPercent: Float (Total 100%)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autoCalculate: Boolean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641080" y="3429000"/>
            <a:ext cx="365760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9640" y="326440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2971800"/>
            <a:ext cx="237744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052560" y="2971800"/>
            <a:ext cx="2377440" cy="2159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FinalGradeRecord (Nilai)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87700"/>
            <a:ext cx="2377440" cy="972820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classId, [FK] userId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finalNumericScore: Float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letterGrade: A/B/C/D/E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isPublished: Boolean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2971800"/>
            <a:ext cx="228600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31520" y="2971800"/>
            <a:ext cx="2286000" cy="2159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AuditLog (Audit CDC)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3187700"/>
            <a:ext cx="2286000" cy="972820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actorId: User? (SetNull)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action: MUTATION_EVENT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entity, entityId, clientIp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beforeState, afterState: JSONB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0" y="4297680"/>
            <a:ext cx="731520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Down Arrow 41"/>
          <p:cNvSpPr/>
          <p:nvPr/>
        </p:nvSpPr>
        <p:spPr>
          <a:xfrm>
            <a:off x="4617720" y="4160520"/>
            <a:ext cx="164592" cy="1371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Down Arrow 42"/>
          <p:cNvSpPr/>
          <p:nvPr/>
        </p:nvSpPr>
        <p:spPr>
          <a:xfrm>
            <a:off x="1828800" y="4297680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029968" y="4297680"/>
            <a:ext cx="4572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5486400" y="4297680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87568" y="4297680"/>
            <a:ext cx="4572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9052560" y="4297680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53728" y="4297680"/>
            <a:ext cx="4572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526280"/>
            <a:ext cx="3383280" cy="16459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31520" y="4526280"/>
            <a:ext cx="3383280" cy="2159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ResourceItem dan Pelacakan Progres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742180"/>
            <a:ext cx="3383280" cy="1040734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 dirty="0">
                <a:solidFill>
                  <a:srgbClr val="C2410C"/>
                </a:solidFill>
              </a:rPr>
              <a:t>PK </a:t>
            </a:r>
            <a:r>
              <a:rPr dirty="0">
                <a:solidFill>
                  <a:srgbClr val="0F172A"/>
                </a:solidFill>
              </a:rPr>
              <a:t>id: UUID | [FK] </a:t>
            </a:r>
            <a:r>
              <a:rPr dirty="0" err="1">
                <a:solidFill>
                  <a:srgbClr val="0F172A"/>
                </a:solidFill>
              </a:rPr>
              <a:t>sectionId</a:t>
            </a:r>
            <a:r>
              <a:rPr dirty="0">
                <a:solidFill>
                  <a:srgbClr val="0F172A"/>
                </a:solidFill>
              </a:rPr>
              <a:t>: Section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>
                <a:solidFill>
                  <a:srgbClr val="475569"/>
                </a:solidFill>
              </a:rPr>
              <a:t>type: TEXT_BLOCK / FILE / VIDEO / LAB_DATA / EXAM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>
                <a:solidFill>
                  <a:srgbClr val="475569"/>
                </a:solidFill>
              </a:rPr>
              <a:t>title: String, </a:t>
            </a:r>
            <a:r>
              <a:rPr dirty="0" err="1">
                <a:solidFill>
                  <a:srgbClr val="475569"/>
                </a:solidFill>
              </a:rPr>
              <a:t>orderIndex</a:t>
            </a:r>
            <a:r>
              <a:rPr dirty="0">
                <a:solidFill>
                  <a:srgbClr val="475569"/>
                </a:solidFill>
              </a:rPr>
              <a:t>: Int, </a:t>
            </a:r>
            <a:r>
              <a:rPr dirty="0" err="1">
                <a:solidFill>
                  <a:srgbClr val="475569"/>
                </a:solidFill>
              </a:rPr>
              <a:t>dynamicPayload</a:t>
            </a:r>
            <a:r>
              <a:rPr dirty="0">
                <a:solidFill>
                  <a:srgbClr val="475569"/>
                </a:solidFill>
              </a:rPr>
              <a:t>: JSONB</a:t>
            </a:r>
            <a:endParaRPr lang="en-US" dirty="0">
              <a:solidFill>
                <a:srgbClr val="475569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endParaRPr dirty="0">
              <a:solidFill>
                <a:srgbClr val="475569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>
                <a:solidFill>
                  <a:srgbClr val="475569"/>
                </a:solidFill>
              </a:rPr>
              <a:t>--- </a:t>
            </a:r>
            <a:r>
              <a:rPr dirty="0" err="1">
                <a:solidFill>
                  <a:srgbClr val="475569"/>
                </a:solidFill>
              </a:rPr>
              <a:t>Relasi</a:t>
            </a:r>
            <a:r>
              <a:rPr dirty="0">
                <a:solidFill>
                  <a:srgbClr val="475569"/>
                </a:solidFill>
              </a:rPr>
              <a:t> 1..n </a:t>
            </a:r>
            <a:r>
              <a:rPr dirty="0" err="1">
                <a:solidFill>
                  <a:srgbClr val="475569"/>
                </a:solidFill>
              </a:rPr>
              <a:t>ke</a:t>
            </a:r>
            <a:r>
              <a:rPr dirty="0">
                <a:solidFill>
                  <a:srgbClr val="475569"/>
                </a:solidFill>
              </a:rPr>
              <a:t> </a:t>
            </a:r>
            <a:r>
              <a:rPr dirty="0" err="1">
                <a:solidFill>
                  <a:srgbClr val="475569"/>
                </a:solidFill>
              </a:rPr>
              <a:t>StudentProgress</a:t>
            </a:r>
            <a:r>
              <a:rPr dirty="0">
                <a:solidFill>
                  <a:srgbClr val="475569"/>
                </a:solidFill>
              </a:rPr>
              <a:t> ---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 dirty="0">
                <a:solidFill>
                  <a:srgbClr val="C2410C"/>
                </a:solidFill>
              </a:rPr>
              <a:t>PK </a:t>
            </a:r>
            <a:r>
              <a:rPr dirty="0" err="1">
                <a:solidFill>
                  <a:srgbClr val="0F172A"/>
                </a:solidFill>
              </a:rPr>
              <a:t>progressId</a:t>
            </a:r>
            <a:r>
              <a:rPr dirty="0">
                <a:solidFill>
                  <a:srgbClr val="0F172A"/>
                </a:solidFill>
              </a:rPr>
              <a:t>: UUID | [FK] </a:t>
            </a:r>
            <a:r>
              <a:rPr dirty="0" err="1">
                <a:solidFill>
                  <a:srgbClr val="0F172A"/>
                </a:solidFill>
              </a:rPr>
              <a:t>resourceId</a:t>
            </a:r>
            <a:r>
              <a:rPr dirty="0">
                <a:solidFill>
                  <a:srgbClr val="0F172A"/>
                </a:solidFill>
              </a:rPr>
              <a:t>, [FK] </a:t>
            </a:r>
            <a:r>
              <a:rPr dirty="0" err="1">
                <a:solidFill>
                  <a:srgbClr val="0F172A"/>
                </a:solidFill>
              </a:rPr>
              <a:t>userId</a:t>
            </a:r>
            <a:endParaRPr dirty="0">
              <a:solidFill>
                <a:srgbClr val="0F172A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 err="1">
                <a:solidFill>
                  <a:srgbClr val="475569"/>
                </a:solidFill>
              </a:rPr>
              <a:t>watchedSeconds</a:t>
            </a:r>
            <a:r>
              <a:rPr dirty="0">
                <a:solidFill>
                  <a:srgbClr val="475569"/>
                </a:solidFill>
              </a:rPr>
              <a:t> (Anti-Skip), </a:t>
            </a:r>
            <a:r>
              <a:rPr dirty="0" err="1">
                <a:solidFill>
                  <a:srgbClr val="475569"/>
                </a:solidFill>
              </a:rPr>
              <a:t>viewedPages</a:t>
            </a:r>
            <a:r>
              <a:rPr dirty="0">
                <a:solidFill>
                  <a:srgbClr val="475569"/>
                </a:solidFill>
              </a:rPr>
              <a:t>: Int[] (Halaman </a:t>
            </a:r>
            <a:r>
              <a:rPr dirty="0" err="1">
                <a:solidFill>
                  <a:srgbClr val="475569"/>
                </a:solidFill>
              </a:rPr>
              <a:t>Unik</a:t>
            </a:r>
            <a:r>
              <a:rPr dirty="0">
                <a:solidFill>
                  <a:srgbClr val="475569"/>
                </a:solidFill>
              </a:rPr>
              <a:t>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 err="1">
                <a:solidFill>
                  <a:srgbClr val="475569"/>
                </a:solidFill>
              </a:rPr>
              <a:t>percentCompleted</a:t>
            </a:r>
            <a:r>
              <a:rPr dirty="0">
                <a:solidFill>
                  <a:srgbClr val="475569"/>
                </a:solidFill>
              </a:rPr>
              <a:t>: Float, </a:t>
            </a:r>
            <a:r>
              <a:rPr dirty="0" err="1">
                <a:solidFill>
                  <a:srgbClr val="475569"/>
                </a:solidFill>
              </a:rPr>
              <a:t>isCompleted</a:t>
            </a:r>
            <a:r>
              <a:rPr dirty="0">
                <a:solidFill>
                  <a:srgbClr val="475569"/>
                </a:solidFill>
              </a:rPr>
              <a:t>: Boolean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89120" y="4526280"/>
            <a:ext cx="3474720" cy="16459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389120" y="4526280"/>
            <a:ext cx="3474720" cy="2159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Quiz, Bank Soal, dan Lembar Jawaban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4742180"/>
            <a:ext cx="3474720" cy="1166666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 dirty="0">
                <a:solidFill>
                  <a:srgbClr val="C2410C"/>
                </a:solidFill>
              </a:rPr>
              <a:t>PK </a:t>
            </a:r>
            <a:r>
              <a:rPr dirty="0">
                <a:solidFill>
                  <a:srgbClr val="0F172A"/>
                </a:solidFill>
              </a:rPr>
              <a:t>id: UUID | [FK] </a:t>
            </a:r>
            <a:r>
              <a:rPr dirty="0" err="1">
                <a:solidFill>
                  <a:srgbClr val="0F172A"/>
                </a:solidFill>
              </a:rPr>
              <a:t>sectionId</a:t>
            </a:r>
            <a:r>
              <a:rPr dirty="0">
                <a:solidFill>
                  <a:srgbClr val="0F172A"/>
                </a:solidFill>
              </a:rPr>
              <a:t>: Section | status: DRAFT/PUB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>
                <a:solidFill>
                  <a:srgbClr val="475569"/>
                </a:solidFill>
              </a:rPr>
              <a:t>title, </a:t>
            </a:r>
            <a:r>
              <a:rPr dirty="0" err="1">
                <a:solidFill>
                  <a:srgbClr val="475569"/>
                </a:solidFill>
              </a:rPr>
              <a:t>timeLimitMinutes</a:t>
            </a:r>
            <a:r>
              <a:rPr dirty="0">
                <a:solidFill>
                  <a:srgbClr val="475569"/>
                </a:solidFill>
              </a:rPr>
              <a:t>, </a:t>
            </a:r>
            <a:r>
              <a:rPr dirty="0" err="1">
                <a:solidFill>
                  <a:srgbClr val="475569"/>
                </a:solidFill>
              </a:rPr>
              <a:t>shuffleQuestions</a:t>
            </a:r>
            <a:r>
              <a:rPr dirty="0">
                <a:solidFill>
                  <a:srgbClr val="475569"/>
                </a:solidFill>
              </a:rPr>
              <a:t>, </a:t>
            </a:r>
            <a:r>
              <a:rPr dirty="0" err="1">
                <a:solidFill>
                  <a:srgbClr val="475569"/>
                </a:solidFill>
              </a:rPr>
              <a:t>totalScore</a:t>
            </a:r>
            <a:r>
              <a:rPr dirty="0">
                <a:solidFill>
                  <a:srgbClr val="475569"/>
                </a:solidFill>
              </a:rPr>
              <a:t>: 100</a:t>
            </a:r>
            <a:endParaRPr lang="en-US" dirty="0">
              <a:solidFill>
                <a:srgbClr val="475569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endParaRPr dirty="0">
              <a:solidFill>
                <a:srgbClr val="475569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>
                <a:solidFill>
                  <a:srgbClr val="475569"/>
                </a:solidFill>
              </a:rPr>
              <a:t>--- </a:t>
            </a:r>
            <a:r>
              <a:rPr dirty="0" err="1">
                <a:solidFill>
                  <a:srgbClr val="475569"/>
                </a:solidFill>
              </a:rPr>
              <a:t>Relasi</a:t>
            </a:r>
            <a:r>
              <a:rPr dirty="0">
                <a:solidFill>
                  <a:srgbClr val="475569"/>
                </a:solidFill>
              </a:rPr>
              <a:t> 1..n </a:t>
            </a:r>
            <a:r>
              <a:rPr dirty="0" err="1">
                <a:solidFill>
                  <a:srgbClr val="475569"/>
                </a:solidFill>
              </a:rPr>
              <a:t>ke</a:t>
            </a:r>
            <a:r>
              <a:rPr dirty="0">
                <a:solidFill>
                  <a:srgbClr val="475569"/>
                </a:solidFill>
              </a:rPr>
              <a:t> Question (8 </a:t>
            </a:r>
            <a:r>
              <a:rPr dirty="0" err="1">
                <a:solidFill>
                  <a:srgbClr val="475569"/>
                </a:solidFill>
              </a:rPr>
              <a:t>Tipe</a:t>
            </a:r>
            <a:r>
              <a:rPr dirty="0">
                <a:solidFill>
                  <a:srgbClr val="475569"/>
                </a:solidFill>
              </a:rPr>
              <a:t> </a:t>
            </a:r>
            <a:r>
              <a:rPr dirty="0" err="1">
                <a:solidFill>
                  <a:srgbClr val="475569"/>
                </a:solidFill>
              </a:rPr>
              <a:t>Soal</a:t>
            </a:r>
            <a:r>
              <a:rPr dirty="0">
                <a:solidFill>
                  <a:srgbClr val="475569"/>
                </a:solidFill>
              </a:rPr>
              <a:t>) ---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 dirty="0">
                <a:solidFill>
                  <a:srgbClr val="C2410C"/>
                </a:solidFill>
              </a:rPr>
              <a:t>PK </a:t>
            </a:r>
            <a:r>
              <a:rPr dirty="0" err="1">
                <a:solidFill>
                  <a:srgbClr val="0F172A"/>
                </a:solidFill>
              </a:rPr>
              <a:t>questionId</a:t>
            </a:r>
            <a:r>
              <a:rPr dirty="0">
                <a:solidFill>
                  <a:srgbClr val="0F172A"/>
                </a:solidFill>
              </a:rPr>
              <a:t>: UUID | [FK] </a:t>
            </a:r>
            <a:r>
              <a:rPr dirty="0" err="1">
                <a:solidFill>
                  <a:srgbClr val="0F172A"/>
                </a:solidFill>
              </a:rPr>
              <a:t>quizId</a:t>
            </a:r>
            <a:r>
              <a:rPr dirty="0">
                <a:solidFill>
                  <a:srgbClr val="0F172A"/>
                </a:solidFill>
              </a:rPr>
              <a:t>, [FK] </a:t>
            </a:r>
            <a:r>
              <a:rPr dirty="0" err="1">
                <a:solidFill>
                  <a:srgbClr val="0F172A"/>
                </a:solidFill>
              </a:rPr>
              <a:t>bankId</a:t>
            </a:r>
            <a:r>
              <a:rPr dirty="0">
                <a:solidFill>
                  <a:srgbClr val="0F172A"/>
                </a:solidFill>
              </a:rPr>
              <a:t>?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>
                <a:solidFill>
                  <a:srgbClr val="475569"/>
                </a:solidFill>
              </a:rPr>
              <a:t>type: SINGLE/MULTI/TF/SHORT/ESSAY.., </a:t>
            </a:r>
            <a:r>
              <a:rPr dirty="0" err="1">
                <a:solidFill>
                  <a:srgbClr val="475569"/>
                </a:solidFill>
              </a:rPr>
              <a:t>weightScore</a:t>
            </a:r>
            <a:r>
              <a:rPr dirty="0">
                <a:solidFill>
                  <a:srgbClr val="475569"/>
                </a:solidFill>
              </a:rPr>
              <a:t>, options</a:t>
            </a:r>
            <a:endParaRPr lang="en-US" dirty="0">
              <a:solidFill>
                <a:srgbClr val="475569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endParaRPr dirty="0">
              <a:solidFill>
                <a:srgbClr val="475569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>
                <a:solidFill>
                  <a:srgbClr val="475569"/>
                </a:solidFill>
              </a:rPr>
              <a:t>--- </a:t>
            </a:r>
            <a:r>
              <a:rPr dirty="0" err="1">
                <a:solidFill>
                  <a:srgbClr val="475569"/>
                </a:solidFill>
              </a:rPr>
              <a:t>Relasi</a:t>
            </a:r>
            <a:r>
              <a:rPr dirty="0">
                <a:solidFill>
                  <a:srgbClr val="475569"/>
                </a:solidFill>
              </a:rPr>
              <a:t> 1..n </a:t>
            </a:r>
            <a:r>
              <a:rPr dirty="0" err="1">
                <a:solidFill>
                  <a:srgbClr val="475569"/>
                </a:solidFill>
              </a:rPr>
              <a:t>ke</a:t>
            </a:r>
            <a:r>
              <a:rPr dirty="0">
                <a:solidFill>
                  <a:srgbClr val="475569"/>
                </a:solidFill>
              </a:rPr>
              <a:t> </a:t>
            </a:r>
            <a:r>
              <a:rPr dirty="0" err="1">
                <a:solidFill>
                  <a:srgbClr val="475569"/>
                </a:solidFill>
              </a:rPr>
              <a:t>QuizAttempt</a:t>
            </a:r>
            <a:r>
              <a:rPr dirty="0">
                <a:solidFill>
                  <a:srgbClr val="475569"/>
                </a:solidFill>
              </a:rPr>
              <a:t> ---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 dirty="0">
                <a:solidFill>
                  <a:srgbClr val="C2410C"/>
                </a:solidFill>
              </a:rPr>
              <a:t>PK </a:t>
            </a:r>
            <a:r>
              <a:rPr dirty="0" err="1">
                <a:solidFill>
                  <a:srgbClr val="0F172A"/>
                </a:solidFill>
              </a:rPr>
              <a:t>attemptId</a:t>
            </a:r>
            <a:r>
              <a:rPr dirty="0">
                <a:solidFill>
                  <a:srgbClr val="0F172A"/>
                </a:solidFill>
              </a:rPr>
              <a:t>: UUID | [FK] </a:t>
            </a:r>
            <a:r>
              <a:rPr dirty="0" err="1">
                <a:solidFill>
                  <a:srgbClr val="0F172A"/>
                </a:solidFill>
              </a:rPr>
              <a:t>userId</a:t>
            </a:r>
            <a:r>
              <a:rPr dirty="0">
                <a:solidFill>
                  <a:srgbClr val="0F172A"/>
                </a:solidFill>
              </a:rPr>
              <a:t>, score: Float, answers: JSONB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92440" y="4526280"/>
            <a:ext cx="3364992" cy="16459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092440" y="4526280"/>
            <a:ext cx="3364992" cy="2159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Assignment dan Riwayat Pengumpulan Versi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4742180"/>
            <a:ext cx="3364992" cy="1153842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 dirty="0">
                <a:solidFill>
                  <a:srgbClr val="C2410C"/>
                </a:solidFill>
              </a:rPr>
              <a:t>PK </a:t>
            </a:r>
            <a:r>
              <a:rPr dirty="0">
                <a:solidFill>
                  <a:srgbClr val="0F172A"/>
                </a:solidFill>
              </a:rPr>
              <a:t>id: UUID | [FK] </a:t>
            </a:r>
            <a:r>
              <a:rPr dirty="0" err="1">
                <a:solidFill>
                  <a:srgbClr val="0F172A"/>
                </a:solidFill>
              </a:rPr>
              <a:t>sectionId</a:t>
            </a:r>
            <a:r>
              <a:rPr dirty="0">
                <a:solidFill>
                  <a:srgbClr val="0F172A"/>
                </a:solidFill>
              </a:rPr>
              <a:t>: Section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>
                <a:solidFill>
                  <a:srgbClr val="475569"/>
                </a:solidFill>
              </a:rPr>
              <a:t>title: String, </a:t>
            </a:r>
            <a:r>
              <a:rPr dirty="0" err="1">
                <a:solidFill>
                  <a:srgbClr val="475569"/>
                </a:solidFill>
              </a:rPr>
              <a:t>dueDate</a:t>
            </a:r>
            <a:r>
              <a:rPr dirty="0">
                <a:solidFill>
                  <a:srgbClr val="475569"/>
                </a:solidFill>
              </a:rPr>
              <a:t>: </a:t>
            </a:r>
            <a:r>
              <a:rPr dirty="0" err="1">
                <a:solidFill>
                  <a:srgbClr val="475569"/>
                </a:solidFill>
              </a:rPr>
              <a:t>DateTime</a:t>
            </a:r>
            <a:r>
              <a:rPr dirty="0">
                <a:solidFill>
                  <a:srgbClr val="475569"/>
                </a:solidFill>
              </a:rPr>
              <a:t>, </a:t>
            </a:r>
            <a:r>
              <a:rPr dirty="0" err="1">
                <a:solidFill>
                  <a:srgbClr val="475569"/>
                </a:solidFill>
              </a:rPr>
              <a:t>cutoffDate</a:t>
            </a:r>
            <a:r>
              <a:rPr dirty="0">
                <a:solidFill>
                  <a:srgbClr val="475569"/>
                </a:solidFill>
              </a:rPr>
              <a:t>: </a:t>
            </a:r>
            <a:r>
              <a:rPr dirty="0" err="1">
                <a:solidFill>
                  <a:srgbClr val="475569"/>
                </a:solidFill>
              </a:rPr>
              <a:t>DateTime</a:t>
            </a:r>
            <a:endParaRPr dirty="0">
              <a:solidFill>
                <a:srgbClr val="475569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 err="1">
                <a:solidFill>
                  <a:srgbClr val="475569"/>
                </a:solidFill>
              </a:rPr>
              <a:t>allowedFileTypes</a:t>
            </a:r>
            <a:r>
              <a:rPr dirty="0">
                <a:solidFill>
                  <a:srgbClr val="475569"/>
                </a:solidFill>
              </a:rPr>
              <a:t>: CSV/ZIP/PDF, </a:t>
            </a:r>
            <a:r>
              <a:rPr dirty="0" err="1">
                <a:solidFill>
                  <a:srgbClr val="475569"/>
                </a:solidFill>
              </a:rPr>
              <a:t>maxScore</a:t>
            </a:r>
            <a:r>
              <a:rPr dirty="0">
                <a:solidFill>
                  <a:srgbClr val="475569"/>
                </a:solidFill>
              </a:rPr>
              <a:t>: Float (100)</a:t>
            </a:r>
            <a:endParaRPr lang="en-US" dirty="0">
              <a:solidFill>
                <a:srgbClr val="475569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endParaRPr dirty="0">
              <a:solidFill>
                <a:srgbClr val="475569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>
                <a:solidFill>
                  <a:srgbClr val="475569"/>
                </a:solidFill>
              </a:rPr>
              <a:t>--- </a:t>
            </a:r>
            <a:r>
              <a:rPr dirty="0" err="1">
                <a:solidFill>
                  <a:srgbClr val="475569"/>
                </a:solidFill>
              </a:rPr>
              <a:t>Relasi</a:t>
            </a:r>
            <a:r>
              <a:rPr dirty="0">
                <a:solidFill>
                  <a:srgbClr val="475569"/>
                </a:solidFill>
              </a:rPr>
              <a:t> 1..n </a:t>
            </a:r>
            <a:r>
              <a:rPr dirty="0" err="1">
                <a:solidFill>
                  <a:srgbClr val="475569"/>
                </a:solidFill>
              </a:rPr>
              <a:t>ke</a:t>
            </a:r>
            <a:r>
              <a:rPr dirty="0">
                <a:solidFill>
                  <a:srgbClr val="475569"/>
                </a:solidFill>
              </a:rPr>
              <a:t> </a:t>
            </a:r>
            <a:r>
              <a:rPr dirty="0" err="1">
                <a:solidFill>
                  <a:srgbClr val="475569"/>
                </a:solidFill>
              </a:rPr>
              <a:t>AssignmentSubmission</a:t>
            </a:r>
            <a:r>
              <a:rPr dirty="0">
                <a:solidFill>
                  <a:srgbClr val="475569"/>
                </a:solidFill>
              </a:rPr>
              <a:t> ---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 dirty="0">
                <a:solidFill>
                  <a:srgbClr val="C2410C"/>
                </a:solidFill>
              </a:rPr>
              <a:t>PK </a:t>
            </a:r>
            <a:r>
              <a:rPr dirty="0" err="1">
                <a:solidFill>
                  <a:srgbClr val="0F172A"/>
                </a:solidFill>
              </a:rPr>
              <a:t>submissionId</a:t>
            </a:r>
            <a:r>
              <a:rPr dirty="0">
                <a:solidFill>
                  <a:srgbClr val="0F172A"/>
                </a:solidFill>
              </a:rPr>
              <a:t>: UUID | [FK] </a:t>
            </a:r>
            <a:r>
              <a:rPr dirty="0" err="1">
                <a:solidFill>
                  <a:srgbClr val="0F172A"/>
                </a:solidFill>
              </a:rPr>
              <a:t>assignmentId</a:t>
            </a:r>
            <a:r>
              <a:rPr dirty="0">
                <a:solidFill>
                  <a:srgbClr val="0F172A"/>
                </a:solidFill>
              </a:rPr>
              <a:t>, [FK] </a:t>
            </a:r>
            <a:r>
              <a:rPr dirty="0" err="1">
                <a:solidFill>
                  <a:srgbClr val="0F172A"/>
                </a:solidFill>
              </a:rPr>
              <a:t>userId</a:t>
            </a:r>
            <a:endParaRPr dirty="0">
              <a:solidFill>
                <a:srgbClr val="0F172A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>
                <a:solidFill>
                  <a:srgbClr val="475569"/>
                </a:solidFill>
              </a:rPr>
              <a:t>version: Int (v1, v2, v3) -&gt; Immutable Versioned History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 err="1">
                <a:solidFill>
                  <a:srgbClr val="475569"/>
                </a:solidFill>
              </a:rPr>
              <a:t>fileObjectId</a:t>
            </a:r>
            <a:r>
              <a:rPr dirty="0">
                <a:solidFill>
                  <a:srgbClr val="475569"/>
                </a:solidFill>
              </a:rPr>
              <a:t>: String? (File Service), score: Float?, </a:t>
            </a:r>
            <a:r>
              <a:rPr dirty="0" err="1">
                <a:solidFill>
                  <a:srgbClr val="475569"/>
                </a:solidFill>
              </a:rPr>
              <a:t>isPublished</a:t>
            </a:r>
            <a:r>
              <a:rPr dirty="0">
                <a:solidFill>
                  <a:srgbClr val="475569"/>
                </a:solidFill>
              </a:rPr>
              <a:t>: Bool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6263640"/>
            <a:ext cx="10728655" cy="29260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44450" rtlCol="0" anchor="ctr"/>
          <a:lstStyle/>
          <a:p>
            <a:pPr algn="ctr">
              <a:defRPr sz="780" b="1">
                <a:solidFill>
                  <a:srgbClr val="334155"/>
                </a:solidFill>
              </a:defRPr>
            </a:pPr>
            <a:r>
              <a:t>Keterangan ERD: Arsitektur Relasi 18 Model PostgreSQL 16 via Prisma ORM | PK = Primary Key (UUIDv4) | FK = Foreign Key Terindeks | 100% English Codebase &amp; DB Naming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BAB 8: MANAJEMEN RUANG LINGKUP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Strategi Rilis Prioritas P0-Pn dan 12 Kriteria Kesiapan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rPr dirty="0"/>
              <a:t>P0 - </a:t>
            </a:r>
            <a:r>
              <a:rPr dirty="0" err="1"/>
              <a:t>Wajib</a:t>
            </a:r>
            <a:r>
              <a:rPr dirty="0"/>
              <a:t> Pilot (V0.1)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Fokus</a:t>
            </a:r>
            <a:r>
              <a:rPr b="1" dirty="0">
                <a:solidFill>
                  <a:srgbClr val="0F172A"/>
                </a:solidFill>
              </a:rPr>
              <a:t> Utama: </a:t>
            </a:r>
            <a:r>
              <a:rPr dirty="0" err="1">
                <a:solidFill>
                  <a:srgbClr val="334155"/>
                </a:solidFill>
              </a:rPr>
              <a:t>Mendukung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alur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pembelajaran</a:t>
            </a:r>
            <a:r>
              <a:rPr dirty="0">
                <a:solidFill>
                  <a:srgbClr val="334155"/>
                </a:solidFill>
              </a:rPr>
              <a:t> end-to-end </a:t>
            </a:r>
            <a:r>
              <a:rPr dirty="0" err="1">
                <a:solidFill>
                  <a:srgbClr val="334155"/>
                </a:solidFill>
              </a:rPr>
              <a:t>tanpa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hambatan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untuk</a:t>
            </a:r>
            <a:r>
              <a:rPr dirty="0">
                <a:solidFill>
                  <a:srgbClr val="334155"/>
                </a:solidFill>
              </a:rPr>
              <a:t> pilot Prodi </a:t>
            </a:r>
            <a:r>
              <a:rPr dirty="0" err="1">
                <a:solidFill>
                  <a:srgbClr val="334155"/>
                </a:solidFill>
              </a:rPr>
              <a:t>Informatika</a:t>
            </a:r>
            <a:r>
              <a:rPr dirty="0">
                <a:solidFill>
                  <a:srgbClr val="334155"/>
                </a:solidFill>
              </a:rPr>
              <a:t>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Cakupan</a:t>
            </a:r>
            <a:r>
              <a:rPr b="1" dirty="0">
                <a:solidFill>
                  <a:srgbClr val="0F172A"/>
                </a:solidFill>
              </a:rPr>
              <a:t> Fitur: </a:t>
            </a:r>
            <a:r>
              <a:rPr dirty="0">
                <a:solidFill>
                  <a:srgbClr val="334155"/>
                </a:solidFill>
              </a:rPr>
              <a:t>SSO login OIDC, Course &amp; Class, Enrollment </a:t>
            </a:r>
            <a:r>
              <a:rPr dirty="0" err="1">
                <a:solidFill>
                  <a:srgbClr val="334155"/>
                </a:solidFill>
              </a:rPr>
              <a:t>peserta</a:t>
            </a:r>
            <a:r>
              <a:rPr dirty="0">
                <a:solidFill>
                  <a:srgbClr val="334155"/>
                </a:solidFill>
              </a:rPr>
              <a:t>, Section modular, Dynamic Resources, Bank </a:t>
            </a:r>
            <a:r>
              <a:rPr dirty="0" err="1">
                <a:solidFill>
                  <a:srgbClr val="334155"/>
                </a:solidFill>
              </a:rPr>
              <a:t>Soal</a:t>
            </a:r>
            <a:r>
              <a:rPr dirty="0">
                <a:solidFill>
                  <a:srgbClr val="334155"/>
                </a:solidFill>
              </a:rPr>
              <a:t> &amp; </a:t>
            </a:r>
            <a:r>
              <a:rPr dirty="0" err="1">
                <a:solidFill>
                  <a:srgbClr val="334155"/>
                </a:solidFill>
              </a:rPr>
              <a:t>Kuis</a:t>
            </a:r>
            <a:r>
              <a:rPr dirty="0">
                <a:solidFill>
                  <a:srgbClr val="334155"/>
                </a:solidFill>
              </a:rPr>
              <a:t> (8 </a:t>
            </a:r>
            <a:r>
              <a:rPr dirty="0" err="1">
                <a:solidFill>
                  <a:srgbClr val="334155"/>
                </a:solidFill>
              </a:rPr>
              <a:t>tipe</a:t>
            </a:r>
            <a:r>
              <a:rPr dirty="0">
                <a:solidFill>
                  <a:srgbClr val="334155"/>
                </a:solidFill>
              </a:rPr>
              <a:t>), </a:t>
            </a:r>
            <a:r>
              <a:rPr dirty="0" err="1">
                <a:solidFill>
                  <a:srgbClr val="334155"/>
                </a:solidFill>
              </a:rPr>
              <a:t>Tugas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berversi</a:t>
            </a:r>
            <a:r>
              <a:rPr dirty="0">
                <a:solidFill>
                  <a:srgbClr val="334155"/>
                </a:solidFill>
              </a:rPr>
              <a:t>, </a:t>
            </a:r>
            <a:r>
              <a:rPr dirty="0" err="1">
                <a:solidFill>
                  <a:srgbClr val="334155"/>
                </a:solidFill>
              </a:rPr>
              <a:t>Pembobotan</a:t>
            </a:r>
            <a:r>
              <a:rPr dirty="0">
                <a:solidFill>
                  <a:srgbClr val="334155"/>
                </a:solidFill>
              </a:rPr>
              <a:t> Nilai </a:t>
            </a:r>
            <a:r>
              <a:rPr dirty="0" err="1">
                <a:solidFill>
                  <a:srgbClr val="334155"/>
                </a:solidFill>
              </a:rPr>
              <a:t>Otomatis</a:t>
            </a:r>
            <a:r>
              <a:rPr dirty="0">
                <a:solidFill>
                  <a:srgbClr val="334155"/>
                </a:solidFill>
              </a:rPr>
              <a:t>, Gradebook, </a:t>
            </a:r>
            <a:r>
              <a:rPr dirty="0" err="1">
                <a:solidFill>
                  <a:srgbClr val="334155"/>
                </a:solidFill>
              </a:rPr>
              <a:t>Publikasi</a:t>
            </a:r>
            <a:r>
              <a:rPr dirty="0">
                <a:solidFill>
                  <a:srgbClr val="334155"/>
                </a:solidFill>
              </a:rPr>
              <a:t> Nilai, dan Audit Log.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Timebox Guardrail: </a:t>
            </a:r>
            <a:r>
              <a:rPr dirty="0">
                <a:solidFill>
                  <a:srgbClr val="334155"/>
                </a:solidFill>
              </a:rPr>
              <a:t>Target 1 </a:t>
            </a:r>
            <a:r>
              <a:rPr dirty="0" err="1">
                <a:solidFill>
                  <a:srgbClr val="334155"/>
                </a:solidFill>
              </a:rPr>
              <a:t>minggu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dipahami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sebagai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rilis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terbatas</a:t>
            </a:r>
            <a:r>
              <a:rPr dirty="0">
                <a:solidFill>
                  <a:srgbClr val="334155"/>
                </a:solidFill>
              </a:rPr>
              <a:t> yang </a:t>
            </a:r>
            <a:r>
              <a:rPr dirty="0" err="1">
                <a:solidFill>
                  <a:srgbClr val="334155"/>
                </a:solidFill>
              </a:rPr>
              <a:t>stabil</a:t>
            </a:r>
            <a:r>
              <a:rPr dirty="0">
                <a:solidFill>
                  <a:srgbClr val="334155"/>
                </a:solidFill>
              </a:rPr>
              <a:t> &amp; </a:t>
            </a:r>
            <a:r>
              <a:rPr dirty="0" err="1">
                <a:solidFill>
                  <a:srgbClr val="334155"/>
                </a:solidFill>
              </a:rPr>
              <a:t>aman</a:t>
            </a:r>
            <a:r>
              <a:rPr dirty="0">
                <a:solidFill>
                  <a:srgbClr val="334155"/>
                </a:solidFill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rPr dirty="0"/>
              <a:t>P1 - </a:t>
            </a:r>
            <a:r>
              <a:rPr dirty="0" err="1"/>
              <a:t>Pasca</a:t>
            </a:r>
            <a:r>
              <a:rPr dirty="0"/>
              <a:t>-Pilot Stabil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Fokus</a:t>
            </a:r>
            <a:r>
              <a:rPr b="1" dirty="0">
                <a:solidFill>
                  <a:srgbClr val="0F172A"/>
                </a:solidFill>
              </a:rPr>
              <a:t> Utama: </a:t>
            </a:r>
            <a:r>
              <a:rPr dirty="0" err="1">
                <a:solidFill>
                  <a:srgbClr val="334155"/>
                </a:solidFill>
              </a:rPr>
              <a:t>Penyempurnaan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kenyamanan</a:t>
            </a:r>
            <a:r>
              <a:rPr dirty="0">
                <a:solidFill>
                  <a:srgbClr val="334155"/>
                </a:solidFill>
              </a:rPr>
              <a:t> dan </a:t>
            </a:r>
            <a:r>
              <a:rPr dirty="0" err="1">
                <a:solidFill>
                  <a:srgbClr val="334155"/>
                </a:solidFill>
              </a:rPr>
              <a:t>operasional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setelah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sistem</a:t>
            </a:r>
            <a:r>
              <a:rPr dirty="0">
                <a:solidFill>
                  <a:srgbClr val="334155"/>
                </a:solidFill>
              </a:rPr>
              <a:t> pilot </a:t>
            </a:r>
            <a:r>
              <a:rPr dirty="0" err="1">
                <a:solidFill>
                  <a:srgbClr val="334155"/>
                </a:solidFill>
              </a:rPr>
              <a:t>berjalan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stabil</a:t>
            </a:r>
            <a:r>
              <a:rPr dirty="0">
                <a:solidFill>
                  <a:srgbClr val="334155"/>
                </a:solidFill>
              </a:rPr>
              <a:t>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Cakupan</a:t>
            </a:r>
            <a:r>
              <a:rPr b="1" dirty="0">
                <a:solidFill>
                  <a:srgbClr val="0F172A"/>
                </a:solidFill>
              </a:rPr>
              <a:t> Fitur: </a:t>
            </a:r>
            <a:r>
              <a:rPr dirty="0" err="1">
                <a:solidFill>
                  <a:srgbClr val="334155"/>
                </a:solidFill>
              </a:rPr>
              <a:t>Manajemen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sesi</a:t>
            </a:r>
            <a:r>
              <a:rPr dirty="0">
                <a:solidFill>
                  <a:srgbClr val="334155"/>
                </a:solidFill>
              </a:rPr>
              <a:t> login </a:t>
            </a:r>
            <a:r>
              <a:rPr dirty="0" err="1">
                <a:solidFill>
                  <a:srgbClr val="334155"/>
                </a:solidFill>
              </a:rPr>
              <a:t>aktif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pengguna</a:t>
            </a:r>
            <a:r>
              <a:rPr dirty="0">
                <a:solidFill>
                  <a:srgbClr val="334155"/>
                </a:solidFill>
              </a:rPr>
              <a:t>, filter &amp; </a:t>
            </a:r>
            <a:r>
              <a:rPr dirty="0" err="1">
                <a:solidFill>
                  <a:srgbClr val="334155"/>
                </a:solidFill>
              </a:rPr>
              <a:t>ekspor</a:t>
            </a:r>
            <a:r>
              <a:rPr dirty="0">
                <a:solidFill>
                  <a:srgbClr val="334155"/>
                </a:solidFill>
              </a:rPr>
              <a:t> user, </a:t>
            </a:r>
            <a:r>
              <a:rPr dirty="0" err="1">
                <a:solidFill>
                  <a:srgbClr val="334155"/>
                </a:solidFill>
              </a:rPr>
              <a:t>ringkasan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penggunaan</a:t>
            </a:r>
            <a:r>
              <a:rPr dirty="0">
                <a:solidFill>
                  <a:srgbClr val="334155"/>
                </a:solidFill>
              </a:rPr>
              <a:t> storage, </a:t>
            </a:r>
            <a:r>
              <a:rPr dirty="0" err="1">
                <a:solidFill>
                  <a:srgbClr val="334155"/>
                </a:solidFill>
              </a:rPr>
              <a:t>pencarian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berkas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mendalam</a:t>
            </a:r>
            <a:r>
              <a:rPr dirty="0">
                <a:solidFill>
                  <a:srgbClr val="334155"/>
                </a:solidFill>
              </a:rPr>
              <a:t>, forum </a:t>
            </a:r>
            <a:r>
              <a:rPr dirty="0" err="1">
                <a:solidFill>
                  <a:srgbClr val="334155"/>
                </a:solidFill>
              </a:rPr>
              <a:t>diskusi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kelas</a:t>
            </a:r>
            <a:r>
              <a:rPr dirty="0">
                <a:solidFill>
                  <a:srgbClr val="334155"/>
                </a:solidFill>
              </a:rPr>
              <a:t>, prerequisite </a:t>
            </a:r>
            <a:r>
              <a:rPr dirty="0" err="1">
                <a:solidFill>
                  <a:srgbClr val="334155"/>
                </a:solidFill>
              </a:rPr>
              <a:t>aktivitas</a:t>
            </a:r>
            <a:r>
              <a:rPr dirty="0">
                <a:solidFill>
                  <a:srgbClr val="334155"/>
                </a:solidFill>
              </a:rPr>
              <a:t>, </a:t>
            </a:r>
            <a:r>
              <a:rPr dirty="0" err="1">
                <a:solidFill>
                  <a:srgbClr val="334155"/>
                </a:solidFill>
              </a:rPr>
              <a:t>duplikasi</a:t>
            </a:r>
            <a:r>
              <a:rPr dirty="0">
                <a:solidFill>
                  <a:srgbClr val="334155"/>
                </a:solidFill>
              </a:rPr>
              <a:t> course/class, dan </a:t>
            </a:r>
            <a:r>
              <a:rPr dirty="0" err="1">
                <a:solidFill>
                  <a:srgbClr val="334155"/>
                </a:solidFill>
              </a:rPr>
              <a:t>ekspor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nilai</a:t>
            </a:r>
            <a:r>
              <a:rPr dirty="0">
                <a:solidFill>
                  <a:srgbClr val="334155"/>
                </a:solidFill>
              </a:rPr>
              <a:t> batch.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F5F3FF"/>
          </a:solidFill>
          <a:ln w="1587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6D28D9"/>
                </a:solidFill>
              </a:defRPr>
            </a:pPr>
            <a:r>
              <a:rPr dirty="0"/>
              <a:t>P2 - Fitur </a:t>
            </a:r>
            <a:r>
              <a:rPr dirty="0" err="1"/>
              <a:t>Lanjutan</a:t>
            </a:r>
            <a:endParaRPr dirty="0"/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Fokus</a:t>
            </a:r>
            <a:r>
              <a:rPr b="1" dirty="0">
                <a:solidFill>
                  <a:srgbClr val="0F172A"/>
                </a:solidFill>
              </a:rPr>
              <a:t> Utama: </a:t>
            </a:r>
            <a:r>
              <a:rPr dirty="0">
                <a:solidFill>
                  <a:srgbClr val="334155"/>
                </a:solidFill>
              </a:rPr>
              <a:t>Fitur </a:t>
            </a:r>
            <a:r>
              <a:rPr dirty="0" err="1">
                <a:solidFill>
                  <a:srgbClr val="334155"/>
                </a:solidFill>
              </a:rPr>
              <a:t>penunjang</a:t>
            </a:r>
            <a:r>
              <a:rPr dirty="0">
                <a:solidFill>
                  <a:srgbClr val="334155"/>
                </a:solidFill>
              </a:rPr>
              <a:t> enterprise yang </a:t>
            </a:r>
            <a:r>
              <a:rPr dirty="0" err="1">
                <a:solidFill>
                  <a:srgbClr val="334155"/>
                </a:solidFill>
              </a:rPr>
              <a:t>tidak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menghambat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perkuliahan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awal</a:t>
            </a:r>
            <a:r>
              <a:rPr dirty="0">
                <a:solidFill>
                  <a:srgbClr val="334155"/>
                </a:solidFill>
              </a:rPr>
              <a:t>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Cakupan</a:t>
            </a:r>
            <a:r>
              <a:rPr b="1" dirty="0">
                <a:solidFill>
                  <a:srgbClr val="0F172A"/>
                </a:solidFill>
              </a:rPr>
              <a:t> Fitur: </a:t>
            </a:r>
            <a:r>
              <a:rPr dirty="0" err="1">
                <a:solidFill>
                  <a:srgbClr val="334155"/>
                </a:solidFill>
              </a:rPr>
              <a:t>Verifikasi</a:t>
            </a:r>
            <a:r>
              <a:rPr dirty="0">
                <a:solidFill>
                  <a:srgbClr val="334155"/>
                </a:solidFill>
              </a:rPr>
              <a:t> login </a:t>
            </a:r>
            <a:r>
              <a:rPr dirty="0" err="1">
                <a:solidFill>
                  <a:srgbClr val="334155"/>
                </a:solidFill>
              </a:rPr>
              <a:t>tambahan</a:t>
            </a:r>
            <a:r>
              <a:rPr dirty="0">
                <a:solidFill>
                  <a:srgbClr val="334155"/>
                </a:solidFill>
              </a:rPr>
              <a:t> (2FA), link download </a:t>
            </a:r>
            <a:r>
              <a:rPr dirty="0" err="1">
                <a:solidFill>
                  <a:srgbClr val="334155"/>
                </a:solidFill>
              </a:rPr>
              <a:t>sementara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berbatas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waktu</a:t>
            </a:r>
            <a:r>
              <a:rPr dirty="0">
                <a:solidFill>
                  <a:srgbClr val="334155"/>
                </a:solidFill>
              </a:rPr>
              <a:t>, file storage versioning, </a:t>
            </a:r>
            <a:r>
              <a:rPr dirty="0" err="1">
                <a:solidFill>
                  <a:srgbClr val="334155"/>
                </a:solidFill>
              </a:rPr>
              <a:t>analitik</a:t>
            </a:r>
            <a:r>
              <a:rPr dirty="0">
                <a:solidFill>
                  <a:srgbClr val="334155"/>
                </a:solidFill>
              </a:rPr>
              <a:t> visual </a:t>
            </a:r>
            <a:r>
              <a:rPr dirty="0" err="1">
                <a:solidFill>
                  <a:srgbClr val="334155"/>
                </a:solidFill>
              </a:rPr>
              <a:t>interaktif</a:t>
            </a:r>
            <a:r>
              <a:rPr dirty="0">
                <a:solidFill>
                  <a:srgbClr val="334155"/>
                </a:solidFill>
              </a:rPr>
              <a:t>, </a:t>
            </a:r>
            <a:r>
              <a:rPr dirty="0" err="1">
                <a:solidFill>
                  <a:srgbClr val="334155"/>
                </a:solidFill>
              </a:rPr>
              <a:t>kalender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akademik</a:t>
            </a:r>
            <a:r>
              <a:rPr dirty="0">
                <a:solidFill>
                  <a:srgbClr val="334155"/>
                </a:solidFill>
              </a:rPr>
              <a:t>, </a:t>
            </a:r>
            <a:r>
              <a:rPr dirty="0" err="1">
                <a:solidFill>
                  <a:srgbClr val="334155"/>
                </a:solidFill>
              </a:rPr>
              <a:t>notifikasi</a:t>
            </a:r>
            <a:r>
              <a:rPr lang="en-US" dirty="0">
                <a:solidFill>
                  <a:srgbClr val="334155"/>
                </a:solidFill>
              </a:rPr>
              <a:t> </a:t>
            </a:r>
            <a:r>
              <a:rPr dirty="0">
                <a:solidFill>
                  <a:srgbClr val="334155"/>
                </a:solidFill>
              </a:rPr>
              <a:t>Email, dan </a:t>
            </a:r>
            <a:r>
              <a:rPr dirty="0" err="1">
                <a:solidFill>
                  <a:srgbClr val="334155"/>
                </a:solidFill>
              </a:rPr>
              <a:t>integrasi</a:t>
            </a:r>
            <a:r>
              <a:rPr dirty="0">
                <a:solidFill>
                  <a:srgbClr val="334155"/>
                </a:solidFill>
              </a:rPr>
              <a:t> Portal SIAKAD.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7: SERVER DAN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Blueprint Deployment Dual-Environment dan Berkas Konfigurasi Siap 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rPr dirty="0" err="1"/>
              <a:t>Arsitektur</a:t>
            </a:r>
            <a:r>
              <a:rPr dirty="0"/>
              <a:t> Dual-Environment dan Sizing Server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Spesifikasi</a:t>
            </a:r>
            <a:r>
              <a:rPr b="1" dirty="0">
                <a:solidFill>
                  <a:srgbClr val="0F172A"/>
                </a:solidFill>
              </a:rPr>
              <a:t> Host VPS: </a:t>
            </a:r>
            <a:r>
              <a:rPr dirty="0">
                <a:solidFill>
                  <a:srgbClr val="334155"/>
                </a:solidFill>
              </a:rPr>
              <a:t>Minimum: 2 vCPU / 4 GB RAM / 50 GB SSD (Pilot 1 Prodi); </a:t>
            </a:r>
            <a:r>
              <a:rPr dirty="0" err="1">
                <a:solidFill>
                  <a:srgbClr val="334155"/>
                </a:solidFill>
              </a:rPr>
              <a:t>Rekomendasi</a:t>
            </a:r>
            <a:r>
              <a:rPr dirty="0">
                <a:solidFill>
                  <a:srgbClr val="334155"/>
                </a:solidFill>
              </a:rPr>
              <a:t>: 4 vCPU / 8-16 GB RAM / 100-150 GB SSD (</a:t>
            </a:r>
            <a:r>
              <a:rPr dirty="0" err="1">
                <a:solidFill>
                  <a:srgbClr val="334155"/>
                </a:solidFill>
              </a:rPr>
              <a:t>Produksi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Kampus</a:t>
            </a:r>
            <a:r>
              <a:rPr dirty="0">
                <a:solidFill>
                  <a:srgbClr val="334155"/>
                </a:solidFill>
              </a:rPr>
              <a:t>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- 1. Live Development / Staging Server: </a:t>
            </a:r>
            <a:r>
              <a:rPr dirty="0" err="1">
                <a:solidFill>
                  <a:srgbClr val="334155"/>
                </a:solidFill>
              </a:rPr>
              <a:t>Aktif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saat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ini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untuk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pengujian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berkelanjutan</a:t>
            </a:r>
            <a:r>
              <a:rPr dirty="0">
                <a:solidFill>
                  <a:srgbClr val="334155"/>
                </a:solidFill>
              </a:rPr>
              <a:t> dan </a:t>
            </a:r>
            <a:r>
              <a:rPr dirty="0" err="1">
                <a:solidFill>
                  <a:srgbClr val="334155"/>
                </a:solidFill>
              </a:rPr>
              <a:t>validasi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tim</a:t>
            </a:r>
            <a:r>
              <a:rPr dirty="0">
                <a:solidFill>
                  <a:srgbClr val="334155"/>
                </a:solidFill>
              </a:rPr>
              <a:t> (PO &amp; QA). </a:t>
            </a:r>
            <a:r>
              <a:rPr dirty="0" err="1">
                <a:solidFill>
                  <a:srgbClr val="334155"/>
                </a:solidFill>
              </a:rPr>
              <a:t>Menggunakan</a:t>
            </a:r>
            <a:r>
              <a:rPr dirty="0">
                <a:solidFill>
                  <a:srgbClr val="334155"/>
                </a:solidFill>
              </a:rPr>
              <a:t> docker-</a:t>
            </a:r>
            <a:r>
              <a:rPr dirty="0" err="1">
                <a:solidFill>
                  <a:srgbClr val="334155"/>
                </a:solidFill>
              </a:rPr>
              <a:t>compose.dev.yml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dengan</a:t>
            </a:r>
            <a:r>
              <a:rPr dirty="0">
                <a:solidFill>
                  <a:srgbClr val="334155"/>
                </a:solidFill>
              </a:rPr>
              <a:t> volume mount hot-reload dan port debug </a:t>
            </a:r>
            <a:r>
              <a:rPr dirty="0" err="1">
                <a:solidFill>
                  <a:srgbClr val="334155"/>
                </a:solidFill>
              </a:rPr>
              <a:t>terbuka</a:t>
            </a:r>
            <a:r>
              <a:rPr dirty="0">
                <a:solidFill>
                  <a:srgbClr val="334155"/>
                </a:solidFill>
              </a:rPr>
              <a:t>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- 2. Production VPS Host (</a:t>
            </a:r>
            <a:r>
              <a:rPr b="1" dirty="0" err="1">
                <a:solidFill>
                  <a:srgbClr val="0F172A"/>
                </a:solidFill>
              </a:rPr>
              <a:t>Rencana</a:t>
            </a:r>
            <a:r>
              <a:rPr b="1" dirty="0">
                <a:solidFill>
                  <a:srgbClr val="0F172A"/>
                </a:solidFill>
              </a:rPr>
              <a:t> </a:t>
            </a:r>
            <a:r>
              <a:rPr b="1" dirty="0" err="1">
                <a:solidFill>
                  <a:srgbClr val="0F172A"/>
                </a:solidFill>
              </a:rPr>
              <a:t>Resmi</a:t>
            </a:r>
            <a:r>
              <a:rPr b="1" dirty="0">
                <a:solidFill>
                  <a:srgbClr val="0F172A"/>
                </a:solidFill>
              </a:rPr>
              <a:t>): </a:t>
            </a:r>
            <a:r>
              <a:rPr dirty="0" err="1">
                <a:solidFill>
                  <a:srgbClr val="334155"/>
                </a:solidFill>
              </a:rPr>
              <a:t>Lingkungan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produksi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terisolasi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untuk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perkuliahan</a:t>
            </a:r>
            <a:r>
              <a:rPr dirty="0">
                <a:solidFill>
                  <a:srgbClr val="334155"/>
                </a:solidFill>
              </a:rPr>
              <a:t> pilot. </a:t>
            </a:r>
            <a:r>
              <a:rPr dirty="0" err="1">
                <a:solidFill>
                  <a:srgbClr val="334155"/>
                </a:solidFill>
              </a:rPr>
              <a:t>Menggunakan</a:t>
            </a:r>
            <a:r>
              <a:rPr dirty="0">
                <a:solidFill>
                  <a:srgbClr val="334155"/>
                </a:solidFill>
              </a:rPr>
              <a:t> docker-</a:t>
            </a:r>
            <a:r>
              <a:rPr dirty="0" err="1">
                <a:solidFill>
                  <a:srgbClr val="334155"/>
                </a:solidFill>
              </a:rPr>
              <a:t>compose.prod.yml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dengan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jaringan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privat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tertutup</a:t>
            </a:r>
            <a:r>
              <a:rPr dirty="0">
                <a:solidFill>
                  <a:srgbClr val="334155"/>
                </a:solidFill>
              </a:rPr>
              <a:t>, </a:t>
            </a:r>
            <a:r>
              <a:rPr dirty="0" err="1">
                <a:solidFill>
                  <a:srgbClr val="334155"/>
                </a:solidFill>
              </a:rPr>
              <a:t>healthchecks</a:t>
            </a:r>
            <a:r>
              <a:rPr dirty="0">
                <a:solidFill>
                  <a:srgbClr val="334155"/>
                </a:solidFill>
              </a:rPr>
              <a:t>, dan auto-restart policy.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Reverse Proxy Nginx dan SSL: </a:t>
            </a:r>
            <a:r>
              <a:rPr dirty="0">
                <a:solidFill>
                  <a:srgbClr val="334155"/>
                </a:solidFill>
              </a:rPr>
              <a:t>Port 80 redirect </a:t>
            </a:r>
            <a:r>
              <a:rPr dirty="0" err="1">
                <a:solidFill>
                  <a:srgbClr val="334155"/>
                </a:solidFill>
              </a:rPr>
              <a:t>ke</a:t>
            </a:r>
            <a:r>
              <a:rPr dirty="0">
                <a:solidFill>
                  <a:srgbClr val="334155"/>
                </a:solidFill>
              </a:rPr>
              <a:t> 443 HTTPS </a:t>
            </a:r>
            <a:r>
              <a:rPr dirty="0" err="1">
                <a:solidFill>
                  <a:srgbClr val="334155"/>
                </a:solidFill>
              </a:rPr>
              <a:t>dengan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enkripsi</a:t>
            </a:r>
            <a:r>
              <a:rPr dirty="0">
                <a:solidFill>
                  <a:srgbClr val="334155"/>
                </a:solidFill>
              </a:rPr>
              <a:t> TLS 1.3 Let's Encrypt </a:t>
            </a:r>
            <a:r>
              <a:rPr dirty="0" err="1">
                <a:solidFill>
                  <a:srgbClr val="334155"/>
                </a:solidFill>
              </a:rPr>
              <a:t>Certbot</a:t>
            </a:r>
            <a:r>
              <a:rPr dirty="0">
                <a:solidFill>
                  <a:srgbClr val="334155"/>
                </a:solidFill>
              </a:rPr>
              <a:t> dan security headers.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Perlindungan</a:t>
            </a:r>
            <a:r>
              <a:rPr b="1" dirty="0">
                <a:solidFill>
                  <a:srgbClr val="0F172A"/>
                </a:solidFill>
              </a:rPr>
              <a:t> Rate Limiting: </a:t>
            </a:r>
            <a:r>
              <a:rPr dirty="0" err="1">
                <a:solidFill>
                  <a:srgbClr val="334155"/>
                </a:solidFill>
              </a:rPr>
              <a:t>Membatasi</a:t>
            </a:r>
            <a:r>
              <a:rPr dirty="0">
                <a:solidFill>
                  <a:srgbClr val="334155"/>
                </a:solidFill>
              </a:rPr>
              <a:t> traffic API (30 req/s) dan login (5 req/s) via Redis.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rPr dirty="0" err="1"/>
              <a:t>Berkas</a:t>
            </a:r>
            <a:r>
              <a:rPr dirty="0"/>
              <a:t> </a:t>
            </a:r>
            <a:r>
              <a:rPr dirty="0" err="1"/>
              <a:t>Siap</a:t>
            </a:r>
            <a:r>
              <a:rPr dirty="0"/>
              <a:t> </a:t>
            </a:r>
            <a:r>
              <a:rPr dirty="0" err="1"/>
              <a:t>Pakai</a:t>
            </a:r>
            <a:r>
              <a:rPr dirty="0"/>
              <a:t> di </a:t>
            </a:r>
            <a:r>
              <a:rPr dirty="0" err="1"/>
              <a:t>Direktori</a:t>
            </a:r>
            <a:r>
              <a:rPr dirty="0"/>
              <a:t> deployment/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docker-</a:t>
            </a:r>
            <a:r>
              <a:rPr b="1" dirty="0" err="1">
                <a:solidFill>
                  <a:srgbClr val="0F172A"/>
                </a:solidFill>
              </a:rPr>
              <a:t>compose.prod.yml</a:t>
            </a:r>
            <a:r>
              <a:rPr b="1" dirty="0">
                <a:solidFill>
                  <a:srgbClr val="0F172A"/>
                </a:solidFill>
              </a:rPr>
              <a:t>: </a:t>
            </a:r>
            <a:r>
              <a:rPr dirty="0" err="1">
                <a:solidFill>
                  <a:srgbClr val="334155"/>
                </a:solidFill>
              </a:rPr>
              <a:t>Orkestrasi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kontainer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produksi</a:t>
            </a:r>
            <a:r>
              <a:rPr dirty="0">
                <a:solidFill>
                  <a:srgbClr val="334155"/>
                </a:solidFill>
              </a:rPr>
              <a:t>: Nginx Gateway, React Frontend, Node.js API, PostgreSQL 16, dan Redis 7.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docker-</a:t>
            </a:r>
            <a:r>
              <a:rPr b="1" dirty="0" err="1">
                <a:solidFill>
                  <a:srgbClr val="0F172A"/>
                </a:solidFill>
              </a:rPr>
              <a:t>compose.dev.yml</a:t>
            </a:r>
            <a:r>
              <a:rPr b="1" dirty="0">
                <a:solidFill>
                  <a:srgbClr val="0F172A"/>
                </a:solidFill>
              </a:rPr>
              <a:t>: </a:t>
            </a:r>
            <a:r>
              <a:rPr dirty="0" err="1">
                <a:solidFill>
                  <a:srgbClr val="334155"/>
                </a:solidFill>
              </a:rPr>
              <a:t>Konfigurasi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cepat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untuk</a:t>
            </a:r>
            <a:r>
              <a:rPr dirty="0">
                <a:solidFill>
                  <a:srgbClr val="334155"/>
                </a:solidFill>
              </a:rPr>
              <a:t> Live Staging Server </a:t>
            </a:r>
            <a:r>
              <a:rPr dirty="0" err="1">
                <a:solidFill>
                  <a:srgbClr val="334155"/>
                </a:solidFill>
              </a:rPr>
              <a:t>tim</a:t>
            </a:r>
            <a:r>
              <a:rPr dirty="0">
                <a:solidFill>
                  <a:srgbClr val="334155"/>
                </a:solidFill>
              </a:rPr>
              <a:t> developer.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Dockerfile.api</a:t>
            </a:r>
            <a:r>
              <a:rPr b="1" dirty="0">
                <a:solidFill>
                  <a:srgbClr val="0F172A"/>
                </a:solidFill>
              </a:rPr>
              <a:t>: </a:t>
            </a:r>
            <a:r>
              <a:rPr dirty="0">
                <a:solidFill>
                  <a:srgbClr val="334155"/>
                </a:solidFill>
              </a:rPr>
              <a:t>Multi-stage build Node.js Alpine minimal (~120 MB runtime).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Dockerfile.web</a:t>
            </a:r>
            <a:r>
              <a:rPr b="1" dirty="0">
                <a:solidFill>
                  <a:srgbClr val="0F172A"/>
                </a:solidFill>
              </a:rPr>
              <a:t>: </a:t>
            </a:r>
            <a:r>
              <a:rPr dirty="0">
                <a:solidFill>
                  <a:srgbClr val="334155"/>
                </a:solidFill>
              </a:rPr>
              <a:t>Multi-stage build React </a:t>
            </a:r>
            <a:r>
              <a:rPr dirty="0" err="1">
                <a:solidFill>
                  <a:srgbClr val="334155"/>
                </a:solidFill>
              </a:rPr>
              <a:t>Vite</a:t>
            </a:r>
            <a:r>
              <a:rPr dirty="0">
                <a:solidFill>
                  <a:srgbClr val="334155"/>
                </a:solidFill>
              </a:rPr>
              <a:t> SPA </a:t>
            </a:r>
            <a:r>
              <a:rPr dirty="0" err="1">
                <a:solidFill>
                  <a:srgbClr val="334155"/>
                </a:solidFill>
              </a:rPr>
              <a:t>dengan</a:t>
            </a:r>
            <a:r>
              <a:rPr dirty="0">
                <a:solidFill>
                  <a:srgbClr val="334155"/>
                </a:solidFill>
              </a:rPr>
              <a:t> Nginx Alpine (~25 MB).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nginx/</a:t>
            </a:r>
            <a:r>
              <a:rPr b="1" dirty="0" err="1">
                <a:solidFill>
                  <a:srgbClr val="0F172A"/>
                </a:solidFill>
              </a:rPr>
              <a:t>prod.conf</a:t>
            </a:r>
            <a:r>
              <a:rPr b="1" dirty="0">
                <a:solidFill>
                  <a:srgbClr val="0F172A"/>
                </a:solidFill>
              </a:rPr>
              <a:t>: </a:t>
            </a:r>
            <a:r>
              <a:rPr dirty="0" err="1">
                <a:solidFill>
                  <a:srgbClr val="334155"/>
                </a:solidFill>
              </a:rPr>
              <a:t>Konfigurasi</a:t>
            </a:r>
            <a:r>
              <a:rPr dirty="0">
                <a:solidFill>
                  <a:srgbClr val="334155"/>
                </a:solidFill>
              </a:rPr>
              <a:t> reverse proxy, SSL, </a:t>
            </a:r>
            <a:r>
              <a:rPr dirty="0" err="1">
                <a:solidFill>
                  <a:srgbClr val="334155"/>
                </a:solidFill>
              </a:rPr>
              <a:t>gzip</a:t>
            </a:r>
            <a:r>
              <a:rPr dirty="0">
                <a:solidFill>
                  <a:srgbClr val="334155"/>
                </a:solidFill>
              </a:rPr>
              <a:t> compression, dan security headers.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.</a:t>
            </a:r>
            <a:r>
              <a:rPr b="1" dirty="0" err="1">
                <a:solidFill>
                  <a:srgbClr val="0F172A"/>
                </a:solidFill>
              </a:rPr>
              <a:t>env.example</a:t>
            </a:r>
            <a:r>
              <a:rPr b="1" dirty="0">
                <a:solidFill>
                  <a:srgbClr val="0F172A"/>
                </a:solidFill>
              </a:rPr>
              <a:t>: </a:t>
            </a:r>
            <a:r>
              <a:rPr dirty="0">
                <a:solidFill>
                  <a:srgbClr val="334155"/>
                </a:solidFill>
              </a:rPr>
              <a:t>Daftar </a:t>
            </a:r>
            <a:r>
              <a:rPr dirty="0" err="1">
                <a:solidFill>
                  <a:srgbClr val="334155"/>
                </a:solidFill>
              </a:rPr>
              <a:t>variabel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lingkungan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lengkap</a:t>
            </a:r>
            <a:r>
              <a:rPr dirty="0">
                <a:solidFill>
                  <a:srgbClr val="334155"/>
                </a:solidFill>
              </a:rPr>
              <a:t> (SSO credentials, File Service key, DB &amp; Redis pass).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scripts/backup.sh &amp; restore.sh: </a:t>
            </a:r>
            <a:r>
              <a:rPr dirty="0" err="1">
                <a:solidFill>
                  <a:srgbClr val="334155"/>
                </a:solidFill>
              </a:rPr>
              <a:t>Otomasi</a:t>
            </a:r>
            <a:r>
              <a:rPr dirty="0">
                <a:solidFill>
                  <a:srgbClr val="334155"/>
                </a:solidFill>
              </a:rPr>
              <a:t> dump PostgreSQL </a:t>
            </a:r>
            <a:r>
              <a:rPr dirty="0" err="1">
                <a:solidFill>
                  <a:srgbClr val="334155"/>
                </a:solidFill>
              </a:rPr>
              <a:t>harian</a:t>
            </a:r>
            <a:r>
              <a:rPr dirty="0">
                <a:solidFill>
                  <a:srgbClr val="334155"/>
                </a:solidFill>
              </a:rPr>
              <a:t> 02.00 WIB (</a:t>
            </a:r>
            <a:r>
              <a:rPr dirty="0" err="1">
                <a:solidFill>
                  <a:srgbClr val="334155"/>
                </a:solidFill>
              </a:rPr>
              <a:t>gzip</a:t>
            </a:r>
            <a:r>
              <a:rPr dirty="0">
                <a:solidFill>
                  <a:srgbClr val="334155"/>
                </a:solidFill>
              </a:rPr>
              <a:t> + SHA-256) &amp; runbook </a:t>
            </a:r>
            <a:r>
              <a:rPr dirty="0" err="1">
                <a:solidFill>
                  <a:srgbClr val="334155"/>
                </a:solidFill>
              </a:rPr>
              <a:t>pemulihan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darurat</a:t>
            </a:r>
            <a:r>
              <a:rPr dirty="0">
                <a:solidFill>
                  <a:srgbClr val="334155"/>
                </a:solidFill>
              </a:rPr>
              <a:t> RTO &lt; 30m.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Perintah</a:t>
            </a:r>
            <a:r>
              <a:rPr b="1" dirty="0">
                <a:solidFill>
                  <a:srgbClr val="0F172A"/>
                </a:solidFill>
              </a:rPr>
              <a:t> </a:t>
            </a:r>
            <a:r>
              <a:rPr b="1" dirty="0" err="1">
                <a:solidFill>
                  <a:srgbClr val="0F172A"/>
                </a:solidFill>
              </a:rPr>
              <a:t>Eksekusi</a:t>
            </a:r>
            <a:r>
              <a:rPr b="1" dirty="0">
                <a:solidFill>
                  <a:srgbClr val="0F172A"/>
                </a:solidFill>
              </a:rPr>
              <a:t> 1 Baris: </a:t>
            </a:r>
            <a:r>
              <a:rPr dirty="0">
                <a:solidFill>
                  <a:srgbClr val="334155"/>
                </a:solidFill>
              </a:rPr>
              <a:t>docker compose -f docker-</a:t>
            </a:r>
            <a:r>
              <a:rPr dirty="0" err="1">
                <a:solidFill>
                  <a:srgbClr val="334155"/>
                </a:solidFill>
              </a:rPr>
              <a:t>compose.prod.yml</a:t>
            </a:r>
            <a:r>
              <a:rPr dirty="0">
                <a:solidFill>
                  <a:srgbClr val="334155"/>
                </a:solidFill>
              </a:rPr>
              <a:t> up -d --build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8 DAN BAB 9: RENCANA EKSEKUSI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Rencana Pengembangan 5 Tahap dan Agenda Sign-Off Product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5 Tahapan Pengembangan Vertikal (Vertical Slices)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1: Fondasi dan SSO (3 Hari): </a:t>
            </a:r>
            <a:r>
              <a:rPr>
                <a:solidFill>
                  <a:srgbClr val="334155"/>
                </a:solidFill>
              </a:rPr>
              <a:t>Setup repositori, konfigurasi Prisma &amp; PostgreSQL, integrasi OIDC SSO UAY, pemetaan pengguna &amp; middleware RBAC.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2: File dan Dynamic Engine (4 Hari): </a:t>
            </a:r>
            <a:r>
              <a:rPr>
                <a:solidFill>
                  <a:srgbClr val="334155"/>
                </a:solidFill>
              </a:rPr>
              <a:t>Integrasi File Service Upload Ticket, Course/Class, Dynamic Section, dan Notion-style Block System.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3: Assessment dan Auto-Grading (5 Hari): </a:t>
            </a:r>
            <a:r>
              <a:rPr>
                <a:solidFill>
                  <a:srgbClr val="334155"/>
                </a:solidFill>
              </a:rPr>
              <a:t>Bank Soal, 8 Tipe Soal Kuis, Tugas berversi, Pembobotan Butir Soal, Penilaian Essay, dan Pembobotan Nilai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4: Progress, Audit dan Feedback (3 Hari): </a:t>
            </a:r>
            <a:r>
              <a:rPr>
                <a:solidFill>
                  <a:srgbClr val="334155"/>
                </a:solidFill>
              </a:rPr>
              <a:t>Video &amp; Slide Progress Tracking, Audit Log Before-After, IndexedDB Draft Caching, dan BVA Testing.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5: Pilot Deployment (2 Hari): </a:t>
            </a:r>
            <a:r>
              <a:rPr>
                <a:solidFill>
                  <a:srgbClr val="334155"/>
                </a:solidFill>
              </a:rPr>
              <a:t>Deployment ke VPS Staging/Production, konfigurasi SSL Nginx, load testing, dan UAT pilot Prodi Informatika.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rPr dirty="0"/>
              <a:t>Agenda </a:t>
            </a:r>
            <a:r>
              <a:rPr dirty="0" err="1"/>
              <a:t>Pembahasan</a:t>
            </a:r>
            <a:r>
              <a:rPr dirty="0"/>
              <a:t> dan Sign-Off Hari </a:t>
            </a:r>
            <a:r>
              <a:rPr dirty="0" err="1"/>
              <a:t>Ini</a:t>
            </a:r>
            <a:endParaRPr dirty="0"/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- 1. Review Product Owner (PO): </a:t>
            </a:r>
            <a:r>
              <a:rPr dirty="0" err="1">
                <a:solidFill>
                  <a:srgbClr val="334155"/>
                </a:solidFill>
              </a:rPr>
              <a:t>Konfirmasi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cakupan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fitur</a:t>
            </a:r>
            <a:r>
              <a:rPr dirty="0">
                <a:solidFill>
                  <a:srgbClr val="334155"/>
                </a:solidFill>
              </a:rPr>
              <a:t> P0, </a:t>
            </a:r>
            <a:r>
              <a:rPr dirty="0" err="1">
                <a:solidFill>
                  <a:srgbClr val="334155"/>
                </a:solidFill>
              </a:rPr>
              <a:t>skema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pembobotan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nilai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otomatis</a:t>
            </a:r>
            <a:r>
              <a:rPr dirty="0">
                <a:solidFill>
                  <a:srgbClr val="334155"/>
                </a:solidFill>
              </a:rPr>
              <a:t>, dan </a:t>
            </a:r>
            <a:r>
              <a:rPr dirty="0" err="1">
                <a:solidFill>
                  <a:srgbClr val="334155"/>
                </a:solidFill>
              </a:rPr>
              <a:t>alur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pengalaman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dosen</a:t>
            </a:r>
            <a:r>
              <a:rPr dirty="0">
                <a:solidFill>
                  <a:srgbClr val="334155"/>
                </a:solidFill>
              </a:rPr>
              <a:t>/</a:t>
            </a:r>
            <a:r>
              <a:rPr dirty="0" err="1">
                <a:solidFill>
                  <a:srgbClr val="334155"/>
                </a:solidFill>
              </a:rPr>
              <a:t>mahasiswa</a:t>
            </a:r>
            <a:r>
              <a:rPr dirty="0">
                <a:solidFill>
                  <a:srgbClr val="334155"/>
                </a:solidFill>
              </a:rPr>
              <a:t>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- 2. Review Tim Developer (Dev): </a:t>
            </a:r>
            <a:r>
              <a:rPr dirty="0" err="1">
                <a:solidFill>
                  <a:srgbClr val="334155"/>
                </a:solidFill>
              </a:rPr>
              <a:t>Penyelarasan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skema</a:t>
            </a:r>
            <a:r>
              <a:rPr dirty="0">
                <a:solidFill>
                  <a:srgbClr val="334155"/>
                </a:solidFill>
              </a:rPr>
              <a:t> database Prisma 18 model,</a:t>
            </a:r>
            <a:r>
              <a:rPr lang="en-US" dirty="0">
                <a:solidFill>
                  <a:srgbClr val="334155"/>
                </a:solidFill>
              </a:rPr>
              <a:t> dan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kontrak</a:t>
            </a:r>
            <a:r>
              <a:rPr dirty="0">
                <a:solidFill>
                  <a:srgbClr val="334155"/>
                </a:solidFill>
              </a:rPr>
              <a:t> API</a:t>
            </a:r>
            <a:r>
              <a:rPr lang="en-US" dirty="0">
                <a:solidFill>
                  <a:srgbClr val="334155"/>
                </a:solidFill>
              </a:rPr>
              <a:t>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- 3. Review Tim QA: </a:t>
            </a:r>
            <a:r>
              <a:rPr dirty="0" err="1">
                <a:solidFill>
                  <a:srgbClr val="334155"/>
                </a:solidFill>
              </a:rPr>
              <a:t>Validasi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matriks</a:t>
            </a:r>
            <a:r>
              <a:rPr dirty="0">
                <a:solidFill>
                  <a:srgbClr val="334155"/>
                </a:solidFill>
              </a:rPr>
              <a:t> Boundary Value Analysis (BVA), </a:t>
            </a:r>
            <a:r>
              <a:rPr dirty="0" err="1">
                <a:solidFill>
                  <a:srgbClr val="334155"/>
                </a:solidFill>
              </a:rPr>
              <a:t>skenario</a:t>
            </a:r>
            <a:r>
              <a:rPr dirty="0">
                <a:solidFill>
                  <a:srgbClr val="334155"/>
                </a:solidFill>
              </a:rPr>
              <a:t> Cause-Effect, dan </a:t>
            </a:r>
            <a:r>
              <a:rPr dirty="0" err="1">
                <a:solidFill>
                  <a:srgbClr val="334155"/>
                </a:solidFill>
              </a:rPr>
              <a:t>kriteria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penerimaan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pengujian</a:t>
            </a:r>
            <a:r>
              <a:rPr dirty="0">
                <a:solidFill>
                  <a:srgbClr val="334155"/>
                </a:solidFill>
              </a:rPr>
              <a:t>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- 4. Review </a:t>
            </a:r>
            <a:r>
              <a:rPr b="1" dirty="0" err="1">
                <a:solidFill>
                  <a:srgbClr val="0F172A"/>
                </a:solidFill>
              </a:rPr>
              <a:t>Teknisi</a:t>
            </a:r>
            <a:r>
              <a:rPr b="1" dirty="0">
                <a:solidFill>
                  <a:srgbClr val="0F172A"/>
                </a:solidFill>
              </a:rPr>
              <a:t> Server / DevOps: </a:t>
            </a:r>
            <a:r>
              <a:rPr dirty="0" err="1">
                <a:solidFill>
                  <a:srgbClr val="334155"/>
                </a:solidFill>
              </a:rPr>
              <a:t>Persetujuan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topologi</a:t>
            </a:r>
            <a:r>
              <a:rPr dirty="0">
                <a:solidFill>
                  <a:srgbClr val="334155"/>
                </a:solidFill>
              </a:rPr>
              <a:t> Docker Compose, Nginx SSL, dan </a:t>
            </a:r>
            <a:r>
              <a:rPr dirty="0" err="1">
                <a:solidFill>
                  <a:srgbClr val="334155"/>
                </a:solidFill>
              </a:rPr>
              <a:t>prosedur</a:t>
            </a:r>
            <a:r>
              <a:rPr dirty="0">
                <a:solidFill>
                  <a:srgbClr val="334155"/>
                </a:solidFill>
              </a:rPr>
              <a:t> backup </a:t>
            </a:r>
            <a:r>
              <a:rPr dirty="0" err="1">
                <a:solidFill>
                  <a:srgbClr val="334155"/>
                </a:solidFill>
              </a:rPr>
              <a:t>otomatis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harian</a:t>
            </a:r>
            <a:r>
              <a:rPr dirty="0">
                <a:solidFill>
                  <a:srgbClr val="334155"/>
                </a:solidFill>
              </a:rPr>
              <a:t>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Kesimpulan: </a:t>
            </a:r>
            <a:r>
              <a:rPr dirty="0" err="1">
                <a:solidFill>
                  <a:srgbClr val="334155"/>
                </a:solidFill>
              </a:rPr>
              <a:t>Setelah</a:t>
            </a:r>
            <a:r>
              <a:rPr dirty="0">
                <a:solidFill>
                  <a:srgbClr val="334155"/>
                </a:solidFill>
              </a:rPr>
              <a:t> review </a:t>
            </a:r>
            <a:r>
              <a:rPr dirty="0" err="1">
                <a:solidFill>
                  <a:srgbClr val="334155"/>
                </a:solidFill>
              </a:rPr>
              <a:t>bersama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ini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disepakati</a:t>
            </a:r>
            <a:r>
              <a:rPr dirty="0">
                <a:solidFill>
                  <a:srgbClr val="334155"/>
                </a:solidFill>
              </a:rPr>
              <a:t>, </a:t>
            </a:r>
            <a:r>
              <a:rPr dirty="0" err="1">
                <a:solidFill>
                  <a:srgbClr val="334155"/>
                </a:solidFill>
              </a:rPr>
              <a:t>tim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pengembang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siap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langsung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memulai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implementasi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kode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Tahap</a:t>
            </a:r>
            <a:r>
              <a:rPr dirty="0">
                <a:solidFill>
                  <a:srgbClr val="334155"/>
                </a:solidFill>
              </a:rPr>
              <a:t>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4849</Words>
  <Application>Microsoft Office PowerPoint</Application>
  <PresentationFormat>Widescreen</PresentationFormat>
  <Paragraphs>323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Muhammad Rizky Aulia Ramadhan .</dc:creator>
  <cp:keywords/>
  <dc:description>generated using python-pptx</dc:description>
  <cp:lastModifiedBy>mikylira.mklr@gmail.com</cp:lastModifiedBy>
  <cp:revision>4</cp:revision>
  <dcterms:created xsi:type="dcterms:W3CDTF">2013-01-27T09:14:16Z</dcterms:created>
  <dcterms:modified xsi:type="dcterms:W3CDTF">2026-09-07T02:41:14Z</dcterms:modified>
  <cp:category/>
</cp:coreProperties>
</file>