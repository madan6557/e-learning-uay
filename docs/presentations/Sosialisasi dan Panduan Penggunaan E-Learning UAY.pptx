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146fa43dd34294" /><Relationship Type="http://schemas.openxmlformats.org/officeDocument/2006/relationships/extended-properties" Target="/docProps/app.xml" Id="Re41c65af82ac4124" /><Relationship Type="http://schemas.openxmlformats.org/officeDocument/2006/relationships/officeDocument" Target="/ppt/presentation.xml" Id="Re140b378711a44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f99b96fdd14919"/>
  </p:sldMasterIdLst>
  <p:notesMasterIdLst>
    <p:notesMasterId xmlns:r="http://schemas.openxmlformats.org/officeDocument/2006/relationships" r:id="R44ae611229b34235"/>
  </p:notesMasterIdLst>
  <p:sldIdLst>
    <p:sldId xmlns:r="http://schemas.openxmlformats.org/officeDocument/2006/relationships" id="256" r:id="R948845b432c744e6"/>
    <p:sldId xmlns:r="http://schemas.openxmlformats.org/officeDocument/2006/relationships" id="257" r:id="R7fd9409071b14912"/>
    <p:sldId xmlns:r="http://schemas.openxmlformats.org/officeDocument/2006/relationships" id="258" r:id="R76c1a86758904c81"/>
    <p:sldId xmlns:r="http://schemas.openxmlformats.org/officeDocument/2006/relationships" id="259" r:id="Ra9c94e6405ee4025"/>
    <p:sldId xmlns:r="http://schemas.openxmlformats.org/officeDocument/2006/relationships" id="260" r:id="R07180f27ac4e4991"/>
    <p:sldId xmlns:r="http://schemas.openxmlformats.org/officeDocument/2006/relationships" id="261" r:id="R50f3eb6ac1f34d51"/>
    <p:sldId xmlns:r="http://schemas.openxmlformats.org/officeDocument/2006/relationships" id="262" r:id="R6bd14dd7f5fe4c47"/>
    <p:sldId xmlns:r="http://schemas.openxmlformats.org/officeDocument/2006/relationships" id="263" r:id="Rb80f887b0f8f4c7b"/>
    <p:sldId xmlns:r="http://schemas.openxmlformats.org/officeDocument/2006/relationships" id="264" r:id="Ra1812ced66344e0b"/>
    <p:sldId xmlns:r="http://schemas.openxmlformats.org/officeDocument/2006/relationships" id="265" r:id="Rcb6ee743db264f28"/>
    <p:sldId xmlns:r="http://schemas.openxmlformats.org/officeDocument/2006/relationships" id="266" r:id="R15693193dd1545d6"/>
    <p:sldId xmlns:r="http://schemas.openxmlformats.org/officeDocument/2006/relationships" id="267" r:id="Ra5848f92af0e4baf"/>
    <p:sldId xmlns:r="http://schemas.openxmlformats.org/officeDocument/2006/relationships" id="268" r:id="R16fa18b4c0ef496a"/>
    <p:sldId xmlns:r="http://schemas.openxmlformats.org/officeDocument/2006/relationships" id="269" r:id="Rc02b6b0598424a67"/>
    <p:sldId xmlns:r="http://schemas.openxmlformats.org/officeDocument/2006/relationships" id="270" r:id="R3105c909502841d7"/>
    <p:sldId xmlns:r="http://schemas.openxmlformats.org/officeDocument/2006/relationships" id="271" r:id="R7efb10c21e084a17"/>
    <p:sldId xmlns:r="http://schemas.openxmlformats.org/officeDocument/2006/relationships" id="272" r:id="R46d15699981242b6"/>
    <p:sldId xmlns:r="http://schemas.openxmlformats.org/officeDocument/2006/relationships" id="273" r:id="R3c50422f9d03478a"/>
    <p:sldId xmlns:r="http://schemas.openxmlformats.org/officeDocument/2006/relationships" id="274" r:id="R443707ef661f48bf"/>
    <p:sldId xmlns:r="http://schemas.openxmlformats.org/officeDocument/2006/relationships" id="275" r:id="R8a4f5e41905b4328"/>
    <p:sldId xmlns:r="http://schemas.openxmlformats.org/officeDocument/2006/relationships" id="276" r:id="R5a71087f45ca4cac"/>
    <p:sldId xmlns:r="http://schemas.openxmlformats.org/officeDocument/2006/relationships" id="277" r:id="Rf3971dc7a80947e9"/>
    <p:sldId xmlns:r="http://schemas.openxmlformats.org/officeDocument/2006/relationships" id="278" r:id="R7ef0b72f700f4ac7"/>
    <p:sldId xmlns:r="http://schemas.openxmlformats.org/officeDocument/2006/relationships" id="279" r:id="R3712e0957f8d4e5c"/>
    <p:sldId xmlns:r="http://schemas.openxmlformats.org/officeDocument/2006/relationships" id="280" r:id="R4fb3ffef7f254a1b"/>
    <p:sldId xmlns:r="http://schemas.openxmlformats.org/officeDocument/2006/relationships" id="281" r:id="R41b1a2f51d9043ee"/>
    <p:sldId xmlns:r="http://schemas.openxmlformats.org/officeDocument/2006/relationships" id="282" r:id="R9c829d244a1e4045"/>
    <p:sldId xmlns:r="http://schemas.openxmlformats.org/officeDocument/2006/relationships" id="283" r:id="Re1252d104f864c9f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9d7c0cda6945f3" /><Relationship Type="http://schemas.openxmlformats.org/officeDocument/2006/relationships/slideMaster" Target="/ppt/slideMasters/slideMaster1.xml" Id="Re1f99b96fdd14919" /><Relationship Type="http://schemas.openxmlformats.org/officeDocument/2006/relationships/notesMaster" Target="/ppt/notesMasters/notesMaster1.xml" Id="R44ae611229b34235" /><Relationship Type="http://schemas.openxmlformats.org/officeDocument/2006/relationships/presProps" Target="/ppt/presProps.xml" Id="R3de07007af9445ed" /><Relationship Type="http://schemas.openxmlformats.org/officeDocument/2006/relationships/viewProps" Target="/ppt/viewProps.xml" Id="Rdf312ba5e7064cba" /><Relationship Type="http://schemas.openxmlformats.org/officeDocument/2006/relationships/tableStyles" Target="/ppt/tableStyles.xml" Id="R4bdd39a4eb5b4f9e" /><Relationship Type="http://schemas.openxmlformats.org/officeDocument/2006/relationships/slide" Target="/ppt/slides/slide1.xml" Id="R948845b432c744e6" /><Relationship Type="http://schemas.openxmlformats.org/officeDocument/2006/relationships/slide" Target="/ppt/slides/slide2.xml" Id="R7fd9409071b14912" /><Relationship Type="http://schemas.openxmlformats.org/officeDocument/2006/relationships/slide" Target="/ppt/slides/slide3.xml" Id="R76c1a86758904c81" /><Relationship Type="http://schemas.openxmlformats.org/officeDocument/2006/relationships/slide" Target="/ppt/slides/slide4.xml" Id="Ra9c94e6405ee4025" /><Relationship Type="http://schemas.openxmlformats.org/officeDocument/2006/relationships/slide" Target="/ppt/slides/slide5.xml" Id="R07180f27ac4e4991" /><Relationship Type="http://schemas.openxmlformats.org/officeDocument/2006/relationships/slide" Target="/ppt/slides/slide6.xml" Id="R50f3eb6ac1f34d51" /><Relationship Type="http://schemas.openxmlformats.org/officeDocument/2006/relationships/slide" Target="/ppt/slides/slide7.xml" Id="R6bd14dd7f5fe4c47" /><Relationship Type="http://schemas.openxmlformats.org/officeDocument/2006/relationships/slide" Target="/ppt/slides/slide8.xml" Id="Rb80f887b0f8f4c7b" /><Relationship Type="http://schemas.openxmlformats.org/officeDocument/2006/relationships/slide" Target="/ppt/slides/slide9.xml" Id="Ra1812ced66344e0b" /><Relationship Type="http://schemas.openxmlformats.org/officeDocument/2006/relationships/slide" Target="/ppt/slides/slide10.xml" Id="Rcb6ee743db264f28" /><Relationship Type="http://schemas.openxmlformats.org/officeDocument/2006/relationships/slide" Target="/ppt/slides/slide11.xml" Id="R15693193dd1545d6" /><Relationship Type="http://schemas.openxmlformats.org/officeDocument/2006/relationships/slide" Target="/ppt/slides/slide12.xml" Id="Ra5848f92af0e4baf" /><Relationship Type="http://schemas.openxmlformats.org/officeDocument/2006/relationships/slide" Target="/ppt/slides/slide13.xml" Id="R16fa18b4c0ef496a" /><Relationship Type="http://schemas.openxmlformats.org/officeDocument/2006/relationships/slide" Target="/ppt/slides/slide14.xml" Id="Rc02b6b0598424a67" /><Relationship Type="http://schemas.openxmlformats.org/officeDocument/2006/relationships/slide" Target="/ppt/slides/slide15.xml" Id="R3105c909502841d7" /><Relationship Type="http://schemas.openxmlformats.org/officeDocument/2006/relationships/slide" Target="/ppt/slides/slide16.xml" Id="R7efb10c21e084a17" /><Relationship Type="http://schemas.openxmlformats.org/officeDocument/2006/relationships/slide" Target="/ppt/slides/slide17.xml" Id="R46d15699981242b6" /><Relationship Type="http://schemas.openxmlformats.org/officeDocument/2006/relationships/slide" Target="/ppt/slides/slide18.xml" Id="R3c50422f9d03478a" /><Relationship Type="http://schemas.openxmlformats.org/officeDocument/2006/relationships/slide" Target="/ppt/slides/slide19.xml" Id="R443707ef661f48bf" /><Relationship Type="http://schemas.openxmlformats.org/officeDocument/2006/relationships/slide" Target="/ppt/slides/slide20.xml" Id="R8a4f5e41905b4328" /><Relationship Type="http://schemas.openxmlformats.org/officeDocument/2006/relationships/slide" Target="/ppt/slides/slide21.xml" Id="R5a71087f45ca4cac" /><Relationship Type="http://schemas.openxmlformats.org/officeDocument/2006/relationships/slide" Target="/ppt/slides/slide22.xml" Id="Rf3971dc7a80947e9" /><Relationship Type="http://schemas.openxmlformats.org/officeDocument/2006/relationships/slide" Target="/ppt/slides/slide23.xml" Id="R7ef0b72f700f4ac7" /><Relationship Type="http://schemas.openxmlformats.org/officeDocument/2006/relationships/slide" Target="/ppt/slides/slide24.xml" Id="R3712e0957f8d4e5c" /><Relationship Type="http://schemas.openxmlformats.org/officeDocument/2006/relationships/slide" Target="/ppt/slides/slide25.xml" Id="R4fb3ffef7f254a1b" /><Relationship Type="http://schemas.openxmlformats.org/officeDocument/2006/relationships/slide" Target="/ppt/slides/slide26.xml" Id="R41b1a2f51d9043ee" /><Relationship Type="http://schemas.openxmlformats.org/officeDocument/2006/relationships/slide" Target="/ppt/slides/slide27.xml" Id="R9c829d244a1e4045" /><Relationship Type="http://schemas.openxmlformats.org/officeDocument/2006/relationships/slide" Target="/ppt/slides/slide28.xml" Id="Re1252d104f864c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0ab7860e914a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a4f7aa0b5784f9c" /><Relationship Type="http://schemas.openxmlformats.org/officeDocument/2006/relationships/notesMaster" Target="/ppt/notesMasters/notesMaster1.xml" Id="Rbbb43f37bbd741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3362064e1e46aa" /><Relationship Type="http://schemas.openxmlformats.org/officeDocument/2006/relationships/notesMaster" Target="/ppt/notesMasters/notesMaster1.xml" Id="R645c27dd804c41d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59e2dafa4645f7" /><Relationship Type="http://schemas.openxmlformats.org/officeDocument/2006/relationships/notesMaster" Target="/ppt/notesMasters/notesMaster1.xml" Id="R1afb22d6879b44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dec667ebe84310" /><Relationship Type="http://schemas.openxmlformats.org/officeDocument/2006/relationships/notesMaster" Target="/ppt/notesMasters/notesMaster1.xml" Id="Re3918338bd464e6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61ff1458f844a5" /><Relationship Type="http://schemas.openxmlformats.org/officeDocument/2006/relationships/notesMaster" Target="/ppt/notesMasters/notesMaster1.xml" Id="R43ba1ee6b65648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70e52042e54fed" /><Relationship Type="http://schemas.openxmlformats.org/officeDocument/2006/relationships/notesMaster" Target="/ppt/notesMasters/notesMaster1.xml" Id="R6a3e0ea67aa648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0666fd7f614f4c" /><Relationship Type="http://schemas.openxmlformats.org/officeDocument/2006/relationships/notesMaster" Target="/ppt/notesMasters/notesMaster1.xml" Id="R38956567537042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c6ce077c05404c" /><Relationship Type="http://schemas.openxmlformats.org/officeDocument/2006/relationships/notesMaster" Target="/ppt/notesMasters/notesMaster1.xml" Id="R3a61c12f23f14cb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a2184f5ad6444d" /><Relationship Type="http://schemas.openxmlformats.org/officeDocument/2006/relationships/notesMaster" Target="/ppt/notesMasters/notesMaster1.xml" Id="R1da263a956c044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b9e5293c1b4fec" /><Relationship Type="http://schemas.openxmlformats.org/officeDocument/2006/relationships/notesMaster" Target="/ppt/notesMasters/notesMaster1.xml" Id="Rccd3e42d319040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7f7c47793124476" /><Relationship Type="http://schemas.openxmlformats.org/officeDocument/2006/relationships/notesMaster" Target="/ppt/notesMasters/notesMaster1.xml" Id="R937def315f6745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8b94c3f43c408e" /><Relationship Type="http://schemas.openxmlformats.org/officeDocument/2006/relationships/notesMaster" Target="/ppt/notesMasters/notesMaster1.xml" Id="R4907a2b2f0f14a1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6a4e2b7e0434afc" /><Relationship Type="http://schemas.openxmlformats.org/officeDocument/2006/relationships/notesMaster" Target="/ppt/notesMasters/notesMaster1.xml" Id="R321c3c0fe4b740b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c09cc32ef7740e5" /><Relationship Type="http://schemas.openxmlformats.org/officeDocument/2006/relationships/notesMaster" Target="/ppt/notesMasters/notesMaster1.xml" Id="R776a65092f014dd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caed577303d4ef5" /><Relationship Type="http://schemas.openxmlformats.org/officeDocument/2006/relationships/notesMaster" Target="/ppt/notesMasters/notesMaster1.xml" Id="R64130b9a8b5d4db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a432e789bfc48b8" /><Relationship Type="http://schemas.openxmlformats.org/officeDocument/2006/relationships/notesMaster" Target="/ppt/notesMasters/notesMaster1.xml" Id="Rd59f24aff1f94fe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573080a550c4883" /><Relationship Type="http://schemas.openxmlformats.org/officeDocument/2006/relationships/notesMaster" Target="/ppt/notesMasters/notesMaster1.xml" Id="R6a4bc13c152445f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395b26af5ae4fe7" /><Relationship Type="http://schemas.openxmlformats.org/officeDocument/2006/relationships/notesMaster" Target="/ppt/notesMasters/notesMaster1.xml" Id="Rbfea0135f14b404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3484ba2f7764df2" /><Relationship Type="http://schemas.openxmlformats.org/officeDocument/2006/relationships/notesMaster" Target="/ppt/notesMasters/notesMaster1.xml" Id="Rf50d86857c2647f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238877157734ef4" /><Relationship Type="http://schemas.openxmlformats.org/officeDocument/2006/relationships/notesMaster" Target="/ppt/notesMasters/notesMaster1.xml" Id="Rbf36fc08e7614e0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fdb6c6ffbfc4c22" /><Relationship Type="http://schemas.openxmlformats.org/officeDocument/2006/relationships/notesMaster" Target="/ppt/notesMasters/notesMaster1.xml" Id="R942349a88fba425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90b7bee208e44d0" /><Relationship Type="http://schemas.openxmlformats.org/officeDocument/2006/relationships/notesMaster" Target="/ppt/notesMasters/notesMaster1.xml" Id="Rce98d96e14c74b5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cf5accc83f04401" /><Relationship Type="http://schemas.openxmlformats.org/officeDocument/2006/relationships/notesMaster" Target="/ppt/notesMasters/notesMaster1.xml" Id="R67a16114eb87464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cb448c47c314cb4" /><Relationship Type="http://schemas.openxmlformats.org/officeDocument/2006/relationships/notesMaster" Target="/ppt/notesMasters/notesMaster1.xml" Id="Ra485bb4cb16a44d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4587a108d374252" /><Relationship Type="http://schemas.openxmlformats.org/officeDocument/2006/relationships/notesMaster" Target="/ppt/notesMasters/notesMaster1.xml" Id="Rd5d7fd857b5e48f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6ad555695fc4c74" /><Relationship Type="http://schemas.openxmlformats.org/officeDocument/2006/relationships/notesMaster" Target="/ppt/notesMasters/notesMaster1.xml" Id="R90ee0c0f16c74d2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efd062b3b8742c9" /><Relationship Type="http://schemas.openxmlformats.org/officeDocument/2006/relationships/notesMaster" Target="/ppt/notesMasters/notesMaster1.xml" Id="R3bfa69a9816e45b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3ddfeb5b3584f38" /><Relationship Type="http://schemas.openxmlformats.org/officeDocument/2006/relationships/notesMaster" Target="/ppt/notesMasters/notesMaster1.xml" Id="R34f2ede3fe7d48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apps/web/src/data/helpGuide.json dan fitur aplikasi pada 7 Oktober 2026. Nama, angka dan tanggal demo bukan data kampus. Petunjuk lengkap tersedia di menu Bantuan.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apps/web/src/data/helpGuide.json dan fitur aplikasi pada 7 Oktober 2026. Nama, angka dan tanggal demo bukan data kampus. Petunjuk lengkap tersedia di menu Bantuan.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apps/web/src/data/helpGuide.json dan fitur aplikasi pada 7 Oktober 2026. Nama, angka dan tanggal demo bukan data kampus. Petunjuk lengkap tersedia di menu Bantuan.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apps/web/src/data/helpGuide.json dan fitur aplikasi pada 7 Oktober 2026. Nama, angka dan tanggal demo bukan data kampus. Petunjuk lengkap tersedia di menu Bantuan.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apps/web/src/data/helpGuide.json dan fitur aplikasi pada 7 Oktober 2026. Nama, angka dan tanggal demo bukan data kampus. Petunjuk lengkap tersedia di menu Bantuan.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apps/web/src/data/helpGuide.json dan fitur aplikasi pada 7 Oktober 2026. Nama, angka dan tanggal demo bukan data kampus. Petunjuk lengkap tersedia di menu Bantuan.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apps/web/src/data/helpGuide.json dan fitur aplikasi pada 7 Oktober 2026. Nama, angka dan tanggal demo bukan data kampus. Petunjuk lengkap tersedia di menu Bantuan.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apps/web/src/data/helpGuide.json dan fitur aplikasi pada 7 Oktober 2026. Nama, angka dan tanggal demo bukan data kampus. Petunjuk lengkap tersedia di menu Bantuan.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apps/web/src/data/helpGuide.json dan fitur aplikasi pada 7 Oktober 2026. Nama, angka dan tanggal demo bukan data kampus. Petunjuk lengkap tersedia di menu Bantuan.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apps/web/src/data/helpGuide.json dan fitur aplikasi pada 7 Oktober 2026. Nama, angka dan tanggal demo bukan data kampus. Petunjuk lengkap tersedia di menu Bantuan.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apps/web/src/data/helpGuide.json dan fitur aplikasi pada 7 Oktober 2026. Nama, angka dan tanggal demo bukan data kampus. Petunjuk lengkap tersedia di menu Bantuan.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apps/web/src/data/helpGuide.json dan fitur aplikasi pada 7 Oktober 2026. Nama, angka dan tanggal demo bukan data kampus. Petunjuk lengkap tersedia di menu Bantuan.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apps/web/src/data/helpGuide.json dan fitur aplikasi pada 7 Oktober 2026. Nama, angka dan tanggal demo bukan data kampus. Petunjuk lengkap tersedia di menu Bantuan.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apps/web/src/data/helpGuide.json dan fitur aplikasi pada 7 Oktober 2026. Nama, angka dan tanggal demo bukan data kampus. Petunjuk lengkap tersedia di menu Bantuan.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apps/web/src/data/helpGuide.json dan fitur aplikasi pada 7 Oktober 2026. Nama, angka dan tanggal demo bukan data kampus. Petunjuk lengkap tersedia di menu Bantuan.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apps/web/src/data/helpGuide.json dan fitur aplikasi pada 7 Oktober 2026. Nama, angka dan tanggal demo bukan data kampus. Petunjuk lengkap tersedia di menu Bantuan.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apps/web/src/data/helpGuide.json dan fitur aplikasi pada 7 Oktober 2026. Nama, angka dan tanggal demo bukan data kampus. Petunjuk lengkap tersedia di menu Bantuan.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apps/web/src/data/helpGuide.json dan fitur aplikasi pada 7 Oktober 2026. Nama, angka dan tanggal demo bukan data kampus. Petunjuk lengkap tersedia di menu Bantuan.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apps/web/src/data/helpGuide.json dan fitur aplikasi pada 7 Oktober 2026. Nama, angka dan tanggal demo bukan data kampus. Petunjuk lengkap tersedia di menu Bantuan.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apps/web/src/data/helpGuide.json dan fitur aplikasi pada 7 Oktober 2026. Nama, angka dan tanggal demo bukan data kampus. Petunjuk lengkap tersedia di menu Bantuan.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apps/web/src/data/helpGuide.json dan fitur aplikasi pada 7 Oktober 2026. Nama, angka dan tanggal demo bukan data kampus. Petunjuk lengkap tersedia di menu Bantuan.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apps/web/src/data/helpGuide.json dan fitur aplikasi pada 7 Oktober 2026. Nama, angka dan tanggal demo bukan data kampus. Petunjuk lengkap tersedia di menu Bantuan.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apps/web/src/data/helpGuide.json dan fitur aplikasi pada 7 Oktober 2026. Nama, angka dan tanggal demo bukan data kampus. Petunjuk lengkap tersedia di menu Bantuan.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apps/web/src/data/helpGuide.json dan fitur aplikasi pada 7 Oktober 2026. Nama, angka dan tanggal demo bukan data kampus. Petunjuk lengkap tersedia di menu Bantuan.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tutorial R1–R5 pada apps/web/src/data/helpGuide.json; tests/rector-reporting.test.ts dan tests/integration/rector-access.test.ts. Demonstrasikan alur universitas → dosen → kelas → kegiatan. Semua tindakan pada laporan hanya membaca.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tutorial R1–R5 pada apps/web/src/data/helpGuide.json; tests/rector-reporting.test.ts dan tests/integration/rector-access.test.ts. Demonstrasikan alur universitas → dosen → kelas → kegiatan. Semua tindakan pada laporan hanya membaca.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tutorial R1–R5 pada apps/web/src/data/helpGuide.json; tests/rector-reporting.test.ts dan tests/integration/rector-access.test.ts. Demonstrasikan alur universitas → dosen → kelas → kegiatan. Semua tindakan pada laporan hanya membaca.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tutorial R1–R5 pada apps/web/src/data/helpGuide.json; tests/rector-reporting.test.ts dan tests/integration/rector-access.test.ts. Demonstrasikan alur universitas → dosen → kelas → kegiatan. Semua tindakan pada laporan hanya membaca.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beeea49e404e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04c3eb00924a6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8336bd67844c7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27c6682e4f4ea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f0e4cd5d0e4df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aa90c812f74df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e51441f3fa4df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043c45ec4d447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6b097cfd1c417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8f448a425d484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149937b9b7447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A638593-EF96-43DD-9B72-568D48A6063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45CC456-7CDA-4795-B29D-FCAFCA4587E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BE84C22-B422-4EA8-84E4-F426D96A729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5BFB79-4773-4057-837A-A567EB59564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5E5A0B0-777D-45EB-ADA1-D5247FB771B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BFB409F-CE2D-40B9-9202-C9E231784C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5A94134-8D73-4A8F-8227-5BB5C146ED3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33BD94F-3F3B-40C4-A484-288D1C28C2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26F1AFF-1BDC-4D38-B894-6905C3A833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2A292A2-69CB-48FD-95A2-8AA45FAC73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B18931-FBFD-4AAE-9A9F-D7D6255433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BD8758A-F2E3-451F-8A68-AAE098113CE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1724B85-E0D5-4B7F-946C-A5B3D19DF7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E73220F-74AE-4956-82EE-5843D88122D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975A346-9322-43BC-9341-0F29BA3D1A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B9FE2AB-238F-4197-909A-048FFDCFFE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FB4B777-F3F3-4430-99DD-3E15757F2FE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2A2C362-0DA9-4DAD-BC01-A9EA4181503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DEC2725-7515-4461-98D4-62E0DFBC42D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EBA74F4-9F6E-44EC-AA61-63F53B138B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23712BC-4C6F-431F-B215-CF3CBBE37E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8012E35-1588-4E6C-96CF-FEE6DCC2C8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AEC3976-388B-440A-8884-54D21CFE6C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FA40E6F-7DC4-4CDA-AA1B-944C8320E7E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BDA153D-8AE1-44E2-828D-85808FEFB1B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1CE2CAF-E2D0-4825-8B4E-23858AA3E897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8A553E9-58CD-486E-841A-1F95688BF9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0F71FADB-886D-4ACB-8022-C1969F49E0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A69B6CA4-6FE8-47AE-AA7F-5D90573ED12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B15AB8-78A8-4361-9312-96DE508551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93D1D7B-8A00-463F-9D48-5281E8A7CC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4033F2A-0EC7-416D-B9B9-B8A6BA0F55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80BC8D9-AC63-4FC6-83C8-C2DE2DC5A77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F72B572-12E6-4851-A35E-E59DB27027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9AC7E7F-08DC-4AEA-A523-02F2F08A560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4F53D93-B421-4690-A917-FACEBE63D78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3E9E91-ADF8-45A4-B696-1280EFD2D3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EE55482-64DA-497D-8324-DD87BEF68D8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4412AF7-3771-44F8-B60D-BFC1937CB4C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30CA8796-D9AA-4E44-8FC7-282463BBBF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3DE22A7-A528-4C9D-A4E8-9D8106087A8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BB84CFE-D403-497F-8ACC-9BC871DC88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FA83BDB-BC6C-4617-8F0F-2DFEB7889F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607556C1-A7DA-4771-B2E4-3BC6E76F23B3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622030F-33CC-4890-8F82-64E417E5E19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73B2E0A-42BF-4DD8-A683-A1DD90DFF8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36F8C062-E3B3-442F-BB19-BA26A15D7F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B5523BC3-F75E-48B8-81AA-F4D70C212C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B027592-5FBA-4991-806F-4F533E63F1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ED8DA11-6866-486C-8DF2-3C59004372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E3942A4-0E3C-40F8-A982-17C2ECA6FA3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E4BDCA7-B445-4122-8426-3038BFC9F2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43E7BA8-A9FB-4232-8EFC-47B8A13370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9620ABA-823A-48C7-A233-8A437F05FB6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4977C3F-3957-4C37-A37A-02D1C8D68E5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B09C8C0-33FB-4654-82E8-78A0F78A340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6C4D765-5FFE-45C5-89EA-01BF93171B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26EA495-E02E-4F28-9F2B-D50AD25220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2c32ddefc341e0" /><Relationship Type="http://schemas.openxmlformats.org/officeDocument/2006/relationships/slideLayout" Target="/ppt/slideLayouts/slideLayout1.xml" Id="Rf327ba2c97d14821" /><Relationship Type="http://schemas.openxmlformats.org/officeDocument/2006/relationships/slideLayout" Target="/ppt/slideLayouts/slideLayout2.xml" Id="Rbbf180f63c464951" /><Relationship Type="http://schemas.openxmlformats.org/officeDocument/2006/relationships/slideLayout" Target="/ppt/slideLayouts/slideLayout3.xml" Id="Rb2904b2b60454ca5" /><Relationship Type="http://schemas.openxmlformats.org/officeDocument/2006/relationships/slideLayout" Target="/ppt/slideLayouts/slideLayout4.xml" Id="R9a544ff576cb4bb2" /><Relationship Type="http://schemas.openxmlformats.org/officeDocument/2006/relationships/slideLayout" Target="/ppt/slideLayouts/slideLayout5.xml" Id="Ra8c0b4918fa14d28" /><Relationship Type="http://schemas.openxmlformats.org/officeDocument/2006/relationships/slideLayout" Target="/ppt/slideLayouts/slideLayout6.xml" Id="R170575dcd7ac45ed" /><Relationship Type="http://schemas.openxmlformats.org/officeDocument/2006/relationships/slideLayout" Target="/ppt/slideLayouts/slideLayout7.xml" Id="Rf92d433aa2574d90" /><Relationship Type="http://schemas.openxmlformats.org/officeDocument/2006/relationships/slideLayout" Target="/ppt/slideLayouts/slideLayout8.xml" Id="Rbd9e4cc2bca24857" /><Relationship Type="http://schemas.openxmlformats.org/officeDocument/2006/relationships/slideLayout" Target="/ppt/slideLayouts/slideLayout9.xml" Id="R33eee242081243e7" /><Relationship Type="http://schemas.openxmlformats.org/officeDocument/2006/relationships/slideLayout" Target="/ppt/slideLayouts/slideLayout10.xml" Id="R0bb92bb404544c76" /><Relationship Type="http://schemas.openxmlformats.org/officeDocument/2006/relationships/slideLayout" Target="/ppt/slideLayouts/slideLayout11.xml" Id="Ra24a328ab6c245e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82DCB301-9AF0-4454-B796-DB47F572F2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4E2C414-652C-457B-AC9D-D4D5B237B2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C04587A-3E1F-4231-9364-E2752C0A89F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446C7CD-3441-4D3C-9AB6-E549C28DCEB4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4002D8C-8ED9-4CC1-B818-BE5E7B525D3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27ba2c97d14821"/>
    <p:sldLayoutId xmlns:r="http://schemas.openxmlformats.org/officeDocument/2006/relationships" id="2147483650" r:id="Rbbf180f63c464951"/>
    <p:sldLayoutId xmlns:r="http://schemas.openxmlformats.org/officeDocument/2006/relationships" id="2147483651" r:id="Rb2904b2b60454ca5"/>
    <p:sldLayoutId xmlns:r="http://schemas.openxmlformats.org/officeDocument/2006/relationships" id="2147483652" r:id="R9a544ff576cb4bb2"/>
    <p:sldLayoutId xmlns:r="http://schemas.openxmlformats.org/officeDocument/2006/relationships" id="2147483653" r:id="Ra8c0b4918fa14d28"/>
    <p:sldLayoutId xmlns:r="http://schemas.openxmlformats.org/officeDocument/2006/relationships" id="2147483654" r:id="R170575dcd7ac45ed"/>
    <p:sldLayoutId xmlns:r="http://schemas.openxmlformats.org/officeDocument/2006/relationships" id="2147483655" r:id="Rf92d433aa2574d90"/>
    <p:sldLayoutId xmlns:r="http://schemas.openxmlformats.org/officeDocument/2006/relationships" id="2147483656" r:id="Rbd9e4cc2bca24857"/>
    <p:sldLayoutId xmlns:r="http://schemas.openxmlformats.org/officeDocument/2006/relationships" id="2147483657" r:id="R33eee242081243e7"/>
    <p:sldLayoutId xmlns:r="http://schemas.openxmlformats.org/officeDocument/2006/relationships" id="2147483658" r:id="R0bb92bb404544c76"/>
    <p:sldLayoutId xmlns:r="http://schemas.openxmlformats.org/officeDocument/2006/relationships" id="2147483659" r:id="Ra24a328ab6c245ec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febe69982f4157" /><Relationship Type="http://schemas.openxmlformats.org/officeDocument/2006/relationships/notesSlide" Target="/ppt/notesSlides/notesSlide1.xml" Id="Rb929f2120fd94e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db7baf00d0841cd" /><Relationship Type="http://schemas.openxmlformats.org/officeDocument/2006/relationships/notesSlide" Target="/ppt/notesSlides/notesSlide2.xml" Id="Rc7118d16ae0741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a355a857fc49ad" /><Relationship Type="http://schemas.openxmlformats.org/officeDocument/2006/relationships/notesSlide" Target="/ppt/notesSlides/notesSlide3.xml" Id="Re54ec8878096481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ee495b53a484329" /><Relationship Type="http://schemas.openxmlformats.org/officeDocument/2006/relationships/notesSlide" Target="/ppt/notesSlides/notesSlide4.xml" Id="Re33be4745ee049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f75477e21294a77" /><Relationship Type="http://schemas.openxmlformats.org/officeDocument/2006/relationships/notesSlide" Target="/ppt/notesSlides/notesSlide5.xml" Id="R63e191f2f95d47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ca2f9b1986f4afc" /><Relationship Type="http://schemas.openxmlformats.org/officeDocument/2006/relationships/notesSlide" Target="/ppt/notesSlides/notesSlide6.xml" Id="R2d306564787d495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24f521006584ef9" /><Relationship Type="http://schemas.openxmlformats.org/officeDocument/2006/relationships/notesSlide" Target="/ppt/notesSlides/notesSlide7.xml" Id="R6bda722f7ca249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172500a5f864423" /><Relationship Type="http://schemas.openxmlformats.org/officeDocument/2006/relationships/notesSlide" Target="/ppt/notesSlides/notesSlide8.xml" Id="Rf03b099537ac43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eeb3ee3b2f0404b" /><Relationship Type="http://schemas.openxmlformats.org/officeDocument/2006/relationships/notesSlide" Target="/ppt/notesSlides/notesSlide9.xml" Id="R0862d279445d43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af71a7f9891455c" /><Relationship Type="http://schemas.openxmlformats.org/officeDocument/2006/relationships/notesSlide" Target="/ppt/notesSlides/notesSlide10.xml" Id="Rdebeb58e22a7409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8f0cb7f3404c9b" /><Relationship Type="http://schemas.openxmlformats.org/officeDocument/2006/relationships/notesSlide" Target="/ppt/notesSlides/notesSlide11.xml" Id="R5e8bb96175804ba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fb57bd5c59b4875" /><Relationship Type="http://schemas.openxmlformats.org/officeDocument/2006/relationships/notesSlide" Target="/ppt/notesSlides/notesSlide12.xml" Id="Re3ec9d0af8bb415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8aa7a952df7425d" /><Relationship Type="http://schemas.openxmlformats.org/officeDocument/2006/relationships/notesSlide" Target="/ppt/notesSlides/notesSlide13.xml" Id="Re6d976e2ecc64cc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a1e143740cf428b" /><Relationship Type="http://schemas.openxmlformats.org/officeDocument/2006/relationships/notesSlide" Target="/ppt/notesSlides/notesSlide14.xml" Id="Ree7670af9d58479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5bc9ee485c24b65" /><Relationship Type="http://schemas.openxmlformats.org/officeDocument/2006/relationships/notesSlide" Target="/ppt/notesSlides/notesSlide15.xml" Id="R6099c4b3ee3b409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0d5a7cb56c640a8" /><Relationship Type="http://schemas.openxmlformats.org/officeDocument/2006/relationships/notesSlide" Target="/ppt/notesSlides/notesSlide16.xml" Id="R56b4a15836f74ef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e7a3783b6834bab" /><Relationship Type="http://schemas.openxmlformats.org/officeDocument/2006/relationships/notesSlide" Target="/ppt/notesSlides/notesSlide17.xml" Id="R07e8b3a9357e403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3a154b029594d1a" /><Relationship Type="http://schemas.openxmlformats.org/officeDocument/2006/relationships/notesSlide" Target="/ppt/notesSlides/notesSlide18.xml" Id="Rf5a9cc5adbd74de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8027a7fec4a4809" /><Relationship Type="http://schemas.openxmlformats.org/officeDocument/2006/relationships/notesSlide" Target="/ppt/notesSlides/notesSlide19.xml" Id="R3f4b02f5ff58418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7727f4024d54bec" /><Relationship Type="http://schemas.openxmlformats.org/officeDocument/2006/relationships/notesSlide" Target="/ppt/notesSlides/notesSlide20.xml" Id="Rfd64c9bb64454a6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d64ea3c33984e93" /><Relationship Type="http://schemas.openxmlformats.org/officeDocument/2006/relationships/notesSlide" Target="/ppt/notesSlides/notesSlide21.xml" Id="R02f70d6e4d5e4c2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ca99d66b5154c9c" /><Relationship Type="http://schemas.openxmlformats.org/officeDocument/2006/relationships/notesSlide" Target="/ppt/notesSlides/notesSlide22.xml" Id="R904fc2ef5bda48e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57866876f814a3f" /><Relationship Type="http://schemas.openxmlformats.org/officeDocument/2006/relationships/notesSlide" Target="/ppt/notesSlides/notesSlide23.xml" Id="R3151c17140dd4f2c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0f2ce65e51d4054" /><Relationship Type="http://schemas.openxmlformats.org/officeDocument/2006/relationships/notesSlide" Target="/ppt/notesSlides/notesSlide24.xml" Id="R61ff549365d84a5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0c42d8ca3e4ac0" /><Relationship Type="http://schemas.openxmlformats.org/officeDocument/2006/relationships/notesSlide" Target="/ppt/notesSlides/notesSlide25.xml" Id="R962a11e9f93c480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f6838f0470467a" /><Relationship Type="http://schemas.openxmlformats.org/officeDocument/2006/relationships/notesSlide" Target="/ppt/notesSlides/notesSlide26.xml" Id="Rba97cecc797544f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06a9d84024605" /><Relationship Type="http://schemas.openxmlformats.org/officeDocument/2006/relationships/notesSlide" Target="/ppt/notesSlides/notesSlide27.xml" Id="Re93cf85e85b7423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67ca15c394651" /><Relationship Type="http://schemas.openxmlformats.org/officeDocument/2006/relationships/notesSlide" Target="/ppt/notesSlides/notesSlide28.xml" Id="R5137327d957e494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9B5C09B-8AD7-442E-A99D-9E7A1A85B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E60029C-172D-4040-A042-4E68322B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109728" cy="2926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0E33BB2-4AE8-4F27-9AFE-B5288C2E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463040"/>
            <a:ext cx="10058400" cy="365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22C55E"/>
                </a:solidFill>
              </a:defRPr>
            </a:pPr>
            <a:r>
              <a:t>UNIVERSITAS ACHMAD YANI BANJARMASIN</a:t>
            </a:r>
          </a:p>
          <a:p xmlns:a="http://schemas.openxmlformats.org/drawingml/2006/main">
            <a:pPr>
              <a:spcBef>
                <a:spcPts val="800"/>
              </a:spcBef>
              <a:buNone/>
              <a:defRPr sz="3200" b="1">
                <a:solidFill>
                  <a:srgbClr val="F8FAFC"/>
                </a:solidFill>
              </a:defRPr>
            </a:pPr>
            <a:r>
              <a:t>SOSIALISASI DAN PANDUAN PENGGUNAAN</a:t>
            </a:r>
          </a:p>
          <a:p xmlns:a="http://schemas.openxmlformats.org/drawingml/2006/main">
            <a:pPr>
              <a:spcBef>
                <a:spcPts val="1200"/>
              </a:spcBef>
              <a:buNone/>
              <a:defRPr sz="1400">
                <a:solidFill>
                  <a:srgbClr val="94A3B8"/>
                </a:solidFill>
              </a:defRPr>
            </a:pPr>
            <a:r>
              <a:t>E-LEARNING UAY</a:t>
            </a:r>
          </a:p>
          <a:p xmlns:a="http://schemas.openxmlformats.org/drawingml/2006/main">
            <a:pPr>
              <a:spcBef>
                <a:spcPts val="1800"/>
              </a:spcBef>
              <a:buNone/>
              <a:defRPr sz="1100" i="1">
                <a:solidFill>
                  <a:srgbClr val="D97706"/>
                </a:solidFill>
              </a:defRPr>
            </a:pPr>
            <a:r>
              <a:t>Mahasiswa · Dosen · Admin Prodi · Super Admin · Rektor</a:t>
            </a:r>
          </a:p>
          <a:p xmlns:a="http://schemas.openxmlformats.org/drawingml/2006/main">
            <a:pPr>
              <a:spcBef>
                <a:spcPts val="1800"/>
              </a:spcBef>
              <a:buNone/>
              <a:defRPr sz="1100" i="1">
                <a:solidFill>
                  <a:srgbClr val="D97706"/>
                </a:solidFill>
              </a:defRPr>
            </a:pPr>
            <a:r>
              <a:t>Edisi 7 Oktober 2026 · Satu akun kampus · Waktu lokal perangkat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7F686-15F8-4D92-9105-BCDF1DD6B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648450"/>
            <a:ext cx="10698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E-Learning UAY · Edisi 7 Oktober 2026                                      1 / 28</a:t>
            </a:r>
          </a:p>
        </p:txBody>
      </p:sp>
    </p:spTree>
    <p:extLst>
      <p:ext uri="{BB962C8B-B14F-4D97-AF65-F5344CB8AC3E}">
        <p14:creationId xmlns:p14="http://schemas.microsoft.com/office/powerpoint/2010/main" val="11357504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D3AED18-0F3E-4D7F-89CF-208880BA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PANDUAN PENGGUNA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50828E7-3A4E-48AB-8B69-5A1CA1DB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85800"/>
            <a:ext cx="106984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Belajar dan mengelola kegiatan akademik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18EAF81B-811B-4159-8F4A-B70C53E0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32918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5E5C90B-61F4-4187-9285-FD30A940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32918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B2B29A2-3F37-4BE0-8324-D803FCDA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27432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Satu akun kampus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Masuk melalui SSO UAY.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Menu mengikuti peran akun.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identitas pada Profil.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Keluar setelah selesai.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637BE6A-A862-4CC1-9866-BD7A5169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45920"/>
            <a:ext cx="32918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C3ED071-1A96-4E80-AED2-098200A64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45920"/>
            <a:ext cx="32918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E7879CF-7FFE-435B-8086-52931808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828800"/>
            <a:ext cx="27432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Pembelajaran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Baca materi per pertemuan.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Kirim tugas dan kerjakan kuis.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Isi presensi sesuai mode sesi.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Lihat hasil yang telah diterbitkan.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D8BF69F-933E-4BBB-87FD-81C68E0A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45920"/>
            <a:ext cx="32918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A526CB1-6772-4BB5-A092-A1F07216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45920"/>
            <a:ext cx="32918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E819ECCB-369F-4E56-80BD-E6B2E231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828800"/>
            <a:ext cx="27432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Pemantauan akademik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Rektor membaca laporan.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Data diperiksa setiap 5 menit.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Waktu data dan waktu dimuat berbeda.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Tidak ada skor kinerja otomatis.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E3C0E6-4C37-4978-B1EB-1A1C6D16F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648450"/>
            <a:ext cx="10698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E-Learning UAY · Edisi 7 Oktober 2026                                      2 / 28</a:t>
            </a:r>
          </a:p>
        </p:txBody>
      </p:sp>
    </p:spTree>
    <p:extLst>
      <p:ext uri="{BB962C8B-B14F-4D97-AF65-F5344CB8AC3E}">
        <p14:creationId xmlns:p14="http://schemas.microsoft.com/office/powerpoint/2010/main" val="19205394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04AE07B-5254-46E3-96BD-006B61302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SATU PINTU AKSES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18459D3-335C-45FB-90F9-15E883FE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85800"/>
            <a:ext cx="106984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Layanan yang digunakan melalui e-learning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FD4DAC58-1505-4D14-BD3D-A4B79CB1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24688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14B8370-3E74-40F8-932A-D8BF0B4CA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24688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10A7042-0123-4D5C-AAFA-2B08ECCE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192024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Akun kampus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Identitas dan peran dari kampus.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Masuk memakai akun sendiri.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Perubahan akses melalui pengelola akun.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BE4C268-6F06-4AB6-A272-030578AF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645920"/>
            <a:ext cx="24688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368DF2F-1898-4CCD-8A37-F767C7EE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645920"/>
            <a:ext cx="24688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4FBA6F9-B687-4E24-A7F4-2E4D8BD4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1828800"/>
            <a:ext cx="192024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Ruang belajar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Kelas dan pertemuan.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Materi, tugas dan kuis.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Presensi dan nilai sesuai hak akses.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C072776-7D79-460D-96F1-2D4037F9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24688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BA294AB-34CF-42DA-B2A5-F66D8FCC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24688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91ECE22-7E59-411B-BBC6-C7000CD2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28800"/>
            <a:ext cx="192024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Berkas kuliah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Berkas sesuai jenis materi.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status unggahan.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Pastikan tugas benar-benar terkumpul.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71F044E8-66DC-4581-9B58-8E287894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1645920"/>
            <a:ext cx="24688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13B1641-1E54-47EA-A96A-B76148917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1645920"/>
            <a:ext cx="24688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FF7204A-4FEF-4215-BAF8-18B02C04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828800"/>
            <a:ext cx="192024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Laporan rektor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Ringkasan universitas.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Dosen, kelas dan riwayat kegiatan.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Hanya membaca data akademik.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1A41D7-EAA0-47CE-ABD4-D85BA412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648450"/>
            <a:ext cx="10698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E-Learning UAY · Edisi 7 Oktober 2026                                      3 / 28</a:t>
            </a:r>
          </a:p>
        </p:txBody>
      </p:sp>
    </p:spTree>
    <p:extLst>
      <p:ext uri="{BB962C8B-B14F-4D97-AF65-F5344CB8AC3E}">
        <p14:creationId xmlns:p14="http://schemas.microsoft.com/office/powerpoint/2010/main" val="38353697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F96FAD2-9C82-4BFF-9018-B58531E0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PERAN PENGGUNA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6BC3AD2-D3B5-455C-8F92-1CBAC95D8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85800"/>
            <a:ext cx="106984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Menu dan tugas mengikuti kewenangan akun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0B176779-E9AA-4D0E-BF16-FCAAEF74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24688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A325C99-19B9-4952-840C-72045D41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24688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33E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6D9AEAF-6B6B-44F4-A99B-599E0FEB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192024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Super Admin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Mengelola administrasi universitas.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Tahun ajaran dan kebijakan nilai.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Katalog serta laporan rektor.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FA42FD07-4715-4BA9-BC71-64ABE4F3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645920"/>
            <a:ext cx="24688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1234B6B-05B8-49D0-AD5F-3526807C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645920"/>
            <a:ext cx="24688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27672CD3-3E61-470E-A56A-A800228F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1828800"/>
            <a:ext cx="192024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Admin Prodi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Mengelola kelas pada cakupan prodi.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Menugaskan pengampu.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Mendaftarkan peserta kelas.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8BB7D17-17C1-4E3E-8A76-85BFD400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24688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C45CD55-133B-4C3B-9B07-CFCC44D7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24688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2AAE4D1-5D0C-4BF5-8360-19355113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28800"/>
            <a:ext cx="192024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Dosen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Menyusun pertemuan dan materi.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Membuka tugas, kuis dan presensi.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Menilai dan menerbitkan hasil.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C59F7096-3D8A-4E9C-8404-513F542DB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1645920"/>
            <a:ext cx="24688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3B143D5-0BC8-4088-AA46-47DA2F20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1645920"/>
            <a:ext cx="24688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6109C96-786E-4A3B-945F-6F4B5F3E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828800"/>
            <a:ext cx="192024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Mahasiswa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Mempelajari materi.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Mengirim tugas dan kuis.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Melihat hasil yang diterbitkan.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3647E8-6C33-45E4-9CB0-C0A5FA62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334125"/>
            <a:ext cx="106984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Rektor: membaca Pemantauan Akademik tanpa mengubah kelas atau nilai.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4D99E9-F06D-45A1-A7F8-EF158655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648450"/>
            <a:ext cx="10698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E-Learning UAY · Edisi 7 Oktober 2026                                      4 / 28</a:t>
            </a:r>
          </a:p>
        </p:txBody>
      </p:sp>
    </p:spTree>
    <p:extLst>
      <p:ext uri="{BB962C8B-B14F-4D97-AF65-F5344CB8AC3E}">
        <p14:creationId xmlns:p14="http://schemas.microsoft.com/office/powerpoint/2010/main" val="208284267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E8C3B45-4C04-4A57-BDA6-CC5923FE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SEMUA PERAN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B158D19-2E3A-4A90-9A48-2FCC92B19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85800"/>
            <a:ext cx="106984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Masuk dan mengakhiri sesi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5D34398-29DB-4D55-9335-C1F9ED41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02E8F98-E740-4802-A72E-00ECE122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4CCB4B7-A609-4AE2-B912-5FB9C327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5720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Langkah masuk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1. Buka e-learning.uay.ac.id.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2. Klik Masuk dengan SSO UAY.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3. Ikuti formulir akun kampus.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4. Periksa nama dan peran.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5. Pilih menu yang sesuai.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36719BC-89C8-4446-81E0-E7E75002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9C76DB1-5DF6-4CE2-B23E-B01D5B77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EEA9A7C-EC97-4D0D-835D-87E6C89F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28800"/>
            <a:ext cx="45720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Saat selesai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Klik Keluar pada bagian atas.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Menutup tab tidak mengakhiri sesi.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Jika sesi berakhir, masuk kembali.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Pemulihan kata sandi melalui layanan akun kampus.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9489E1-513E-4A24-B687-D8F2D0204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648450"/>
            <a:ext cx="10698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E-Learning UAY · Edisi 7 Oktober 2026                                      5 / 28</a:t>
            </a:r>
          </a:p>
        </p:txBody>
      </p:sp>
    </p:spTree>
    <p:extLst>
      <p:ext uri="{BB962C8B-B14F-4D97-AF65-F5344CB8AC3E}">
        <p14:creationId xmlns:p14="http://schemas.microsoft.com/office/powerpoint/2010/main" val="5745826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9760420-E7BF-4A49-AAD8-77385C11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SUPER ADMIN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D1ED858-88AE-4E1A-BBC3-F8390000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85800"/>
            <a:ext cx="106984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Administrasi seluruh program studi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95D2F9C2-6E0F-43F7-B27E-E7D211F3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32918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2F5EAA0-34B9-479C-905C-A10753BCF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32918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B3D275F-8516-4CBC-B330-215B8EF1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27432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Cakupan universitas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kelas dan program studi.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Cari pengguna sesuai kewenangan.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Gunakan data aktual, bukan angka contoh.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D8099C1-C330-4354-BABE-997E1DA1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45920"/>
            <a:ext cx="32918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393EEF1-582D-41F8-AD34-6CB18CB1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45920"/>
            <a:ext cx="32918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2049B66-FC4B-468A-BF45-2E8D4ECE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828800"/>
            <a:ext cx="27432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Katalog mata kuliah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Buka Katalog mata kuliah.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kode, nama, SKS dan prodi.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Tambahkan kelas dari mata kuliah yang benar.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2550873-0CAE-46BF-BB53-50EEB443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45920"/>
            <a:ext cx="32918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8004567-34AA-46CF-B3E4-B95F0835A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45920"/>
            <a:ext cx="32918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90C485E-8DC1-4DC7-BFB2-E9FF1FAB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828800"/>
            <a:ext cx="27432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Pemantauan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Buka Pemantauan Akademik.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Telusuri dosen dan kelas.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Tindakan admin dipisahkan dari kegiatan dosen.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CFAE1C-10DD-4487-8197-B2DB23637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648450"/>
            <a:ext cx="10698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E-Learning UAY · Edisi 7 Oktober 2026                                      6 / 28</a:t>
            </a:r>
          </a:p>
        </p:txBody>
      </p:sp>
    </p:spTree>
    <p:extLst>
      <p:ext uri="{BB962C8B-B14F-4D97-AF65-F5344CB8AC3E}">
        <p14:creationId xmlns:p14="http://schemas.microsoft.com/office/powerpoint/2010/main" val="43850125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C9DD937-A730-4451-8BA3-1A94EA05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SUPER ADMIN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8786D5E-C5E8-496C-AA48-11E5AF18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85800"/>
            <a:ext cx="106984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Tahun ajaran dan kebijakan penilaian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DD8422A-39A1-4CDF-BFCB-4B928858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E913E61-AA82-4388-AB30-2AD05B5E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9FEFD38-5FC1-4934-AED2-E6D652E2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5720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Tahun ajaran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Buka Kebijakan &amp; Tahun Ajaran.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Atur pilihan semester dan banner.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label setelah tersimpan.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Pengarsipan dilakukan pada kelas.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A2EB826-E8CB-4DFE-860E-BA8178AFF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C0FA19A-5ADB-4818-9B6B-F116C0E1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C7A10A8-C4C6-4ED8-A22F-54568A6B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28800"/>
            <a:ext cx="45720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Kebijakan nilai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Pilih skala nilai yang berlaku.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Atur ambang hadir sesuai kebijakan.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versi skala pada kelas.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Nilai yang telah terbit tidak dihitung ulang hanya karena default berubah.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72E05-9BA1-4941-8541-F44D67B58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648450"/>
            <a:ext cx="10698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E-Learning UAY · Edisi 7 Oktober 2026                                      7 / 28</a:t>
            </a:r>
          </a:p>
        </p:txBody>
      </p:sp>
    </p:spTree>
    <p:extLst>
      <p:ext uri="{BB962C8B-B14F-4D97-AF65-F5344CB8AC3E}">
        <p14:creationId xmlns:p14="http://schemas.microsoft.com/office/powerpoint/2010/main" val="7737009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E8B63CD-6FC0-4548-8069-0ED89EB1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REKTOR DAN SUPER ADMIN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A22F4683-9742-4056-AFAD-36F11285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85800"/>
            <a:ext cx="106984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Pemantauan Akademik dalam e-learning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A4977EF-1B96-402B-B2F1-C8BCDFA3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9BFFAE-44E1-4FA5-BEF2-2518D78C2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3493B1B-CBD7-4866-AA67-6FA7FA7EE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5720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Akses laporan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Masuk memakai akun kampus.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Rektor langsung diarahkan ke laporan.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Akun rektor tidak mengubah materi, tugas atau nilai.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Demo memiliki akun Rektor dan label data simulasi.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B3C9EB3-A06C-4696-A150-EEC0B3DD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F43857F-01F8-4B3D-A084-C13A46AF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FC9DED1-2307-4454-95E5-F67F8F72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28800"/>
            <a:ext cx="45720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Ringkasan yang dibaca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Dosen beraktivitas akademik.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Pekerjaan mahasiswa belum dinilai.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Nilai yang sudah dibagikan.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Rekap setiap program studi.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Lanjutkan ke dosen, kelas dan kegiatan.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5553C2-9D6C-4E19-912C-B5B15E3F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648450"/>
            <a:ext cx="10698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E-Learning UAY · Edisi 7 Oktober 2026                                      8 / 28</a:t>
            </a:r>
          </a:p>
        </p:txBody>
      </p:sp>
    </p:spTree>
    <p:extLst>
      <p:ext uri="{BB962C8B-B14F-4D97-AF65-F5344CB8AC3E}">
        <p14:creationId xmlns:p14="http://schemas.microsoft.com/office/powerpoint/2010/main" val="103860763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E8C979F-65A5-47A0-B22C-0F6E376D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ADMIN PRODI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FDC9234-E8D0-4749-9173-25E19648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85800"/>
            <a:ext cx="106984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Menyiapkan mata kuliah dan kelas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9137D161-8EEF-49DD-8324-C8242EC8E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A421B8B-DF6B-49B1-9A07-BD495E9A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7B95C17-B4C9-45D7-9FD7-19572C16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5720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Cakupan program studi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prodi pada Profil.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Kelola kelas dalam cakupan Anda.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Pengampu lintas prodi dapat ditugaskan.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Perubahan identitas melalui pengelola kampus.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197C0BC2-DE93-48C0-ACE3-D65D0291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B29F18-B872-4D6E-AE53-57A08DE16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E180B12-B6F1-477F-9C27-8B0B146BA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28800"/>
            <a:ext cx="45720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Membuat kelas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1. Buka Katalog mata kuliah.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2. Pilih mata kuliah lalu Tambah kelas.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3. Isi rombel dan semester.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4. Periksa pengampu dan peserta.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5. Terbitkan saat kelas siap.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7E2724-1BC4-4EB2-8A6D-5DCD2B815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648450"/>
            <a:ext cx="10698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E-Learning UAY · Edisi 7 Oktober 2026                                      9 / 28</a:t>
            </a:r>
          </a:p>
        </p:txBody>
      </p:sp>
    </p:spTree>
    <p:extLst>
      <p:ext uri="{BB962C8B-B14F-4D97-AF65-F5344CB8AC3E}">
        <p14:creationId xmlns:p14="http://schemas.microsoft.com/office/powerpoint/2010/main" val="146153946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ADB5E65-CCAC-401A-8E86-7A5C0118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ADMIN PRODI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3FCD420A-83D1-4EB7-8099-1FE63EEB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85800"/>
            <a:ext cx="106984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Pengampu dan peserta kelas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CB187F8E-607C-49E9-AA25-E6E3B35BB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7633AB0-1629-4E05-8212-83BD1A90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2FF64CB-A940-4433-BCAE-48A8328E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5720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Pengampu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Buka kelas → Peserta.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Cari dosen berdasarkan identitasnya.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Tambahkan pengampu yang ditugaskan.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kelas pada akun dosen tersebut.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A3BB5DA4-417F-4C58-8E9F-10EE6609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6BC8C03-BF35-4903-A64A-C04FD33D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81B369F-12A9-47FE-A6F2-D4EFD4F3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28800"/>
            <a:ext cx="45720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Peserta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Tambahkan mahasiswa sesuai identitas.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kepesertaan aktif.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Gunakan impor dengan pratinjau.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Status nonaktif membatasi akses.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Riwayat tetap dapat ditinjau.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9EC409-6BCC-4D99-AD85-6B3D74C2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648450"/>
            <a:ext cx="10698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E-Learning UAY · Edisi 7 Oktober 2026                                      10 / 28</a:t>
            </a:r>
          </a:p>
        </p:txBody>
      </p:sp>
    </p:spTree>
    <p:extLst>
      <p:ext uri="{BB962C8B-B14F-4D97-AF65-F5344CB8AC3E}">
        <p14:creationId xmlns:p14="http://schemas.microsoft.com/office/powerpoint/2010/main" val="39969049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5F2648D6-3F6E-473F-9D16-14C47502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ADMIN PRODI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F299421-D8A2-4348-9674-26F59F75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85800"/>
            <a:ext cx="106984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Meninjau kondisi kelas dan arsip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9DA751B-12E9-46EE-A0B8-BDD03F87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32918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98AC855-097A-440F-B5D3-1F58C53E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32918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998B1D7-E4B7-4069-B978-9B2A4D55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27432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Kondisi kelas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status draf atau terbit.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Materi tersembunyi belum terlihat mahasiswa.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Verifikasi pengampu dan peserta.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8770F48-54C4-4F6C-B2EF-C8D6CA5D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45920"/>
            <a:ext cx="32918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4FE4F34-ED68-49CF-A434-79D9B1CC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0" y="1645920"/>
            <a:ext cx="32918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FAEE2F7-16C3-4E21-A561-D7FD71D1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828800"/>
            <a:ext cx="27432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Bantuan pengajaran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jadwal dan sesi presensi.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Tinjau laporan kelas sesuai akses.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Bantu dosen menangani kendala.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333DF41-DA75-4E32-8832-98FCCEA1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45920"/>
            <a:ext cx="32918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DB03C3E-D21F-4275-9A9E-59CA101E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1645920"/>
            <a:ext cx="32918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9ABD38E-A785-44EE-B152-EEB832A7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828800"/>
            <a:ext cx="27432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Arsip kelas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Gunakan tindakan arsip yang tersedia.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semester sebelum mengarsip.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Riwayat kelas tetap diperlukan untuk peninjauan.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729898-7A5D-4883-B9A0-A3244606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648450"/>
            <a:ext cx="10698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E-Learning UAY · Edisi 7 Oktober 2026                                      11 / 28</a:t>
            </a:r>
          </a:p>
        </p:txBody>
      </p:sp>
    </p:spTree>
    <p:extLst>
      <p:ext uri="{BB962C8B-B14F-4D97-AF65-F5344CB8AC3E}">
        <p14:creationId xmlns:p14="http://schemas.microsoft.com/office/powerpoint/2010/main" val="200014603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1B553B7-4C47-4F7B-AD33-795F9E5B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DOSEN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C35EE9F-FC70-4574-9C15-8F9A2853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85800"/>
            <a:ext cx="106984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Ruang kerja pengajaran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D329C8A2-FE09-4253-9594-55158D5B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8206228-BBD5-4912-BB4E-B53FFF77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C8A5518-8BA4-4051-B1B0-82DAE435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5720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Kelas saya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Pilih semester dan kelas yang diampu.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Buka pertemuan, materi dan kegiatan.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pengumuman serta tenggat.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Filter membantu dosen lintas prodi.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F6F0DC5-61D2-401C-9096-F48B9067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D7E7B73-9A10-4A3A-A8DA-F5A5914DB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963697C-05C5-41DB-98E4-1E2F8375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28800"/>
            <a:ext cx="45720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Pekerjaan penilaian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Tinjau kiriman tugas terbaru.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Koreksi uraian dan unggahan kuis.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Bedakan nilai draf dan terbit.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Mahasiswa melihat hasil setelah diterbitkan.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F6BFD4-691B-407A-98FF-1A382F63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648450"/>
            <a:ext cx="10698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E-Learning UAY · Edisi 7 Oktober 2026                                      12 / 28</a:t>
            </a:r>
          </a:p>
        </p:txBody>
      </p:sp>
    </p:spTree>
    <p:extLst>
      <p:ext uri="{BB962C8B-B14F-4D97-AF65-F5344CB8AC3E}">
        <p14:creationId xmlns:p14="http://schemas.microsoft.com/office/powerpoint/2010/main" val="51852441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D606974-A1B5-4619-97EA-710DDCA1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DOSEN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08AA474-B1E7-4D3F-9C77-48C30438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85800"/>
            <a:ext cx="106984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Menyusun materi pada pertemuan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74B1CA35-5ACE-4685-B913-C15BD6CB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24688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7E830B7-48BB-46BD-949C-D82AE5B1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24688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AA2BCC8-69B9-4034-9CC7-D0566787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192024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Modul PDF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Pilih pertemuan.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Unggah PDF yang sesuai.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pratinjau dan visibilitas.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Terbitkan setelah siap.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D0E1851-EE6F-4021-ADD4-08A4516C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645920"/>
            <a:ext cx="24688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07D0D38-0966-4383-9477-8AD57D37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645920"/>
            <a:ext cx="24688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C67AABA-7EF4-4E4F-BB6B-0F73BFA8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1828800"/>
            <a:ext cx="192024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Artikel teks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Gunakan editor artikel.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format dan lampiran.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Impor artikel bila diperlukan.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Simpan lalu periksa hasil.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9B5FEE7-5A3B-44D5-BAB2-40EF432A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24688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2BA2826-89B1-433E-8761-28D9A9F0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24688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27D29B9-8400-4FD8-AE73-EA299B0FB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28800"/>
            <a:ext cx="192024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Video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Unggah video atau gunakan tautan.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pemutaran.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Atur progres sesuai fitur materi.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visibilitas mahasiswa.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F886F50B-3FA1-43F5-A6B6-C65098D06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1645920"/>
            <a:ext cx="246888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5A255D6-E81D-4DCF-B59D-F2659B64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1645920"/>
            <a:ext cx="246888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89DBF72A-EB02-4360-99E3-E88E6F91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1828800"/>
            <a:ext cx="192024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Bahan pendukung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Unggah berkas praktikum.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Cantumkan tautan referensi.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berkas dan judul.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500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Jangan menyamakan unggah dengan terbit.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5F587F-C9BB-4043-A1BC-A0E6284E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648450"/>
            <a:ext cx="10698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E-Learning UAY · Edisi 7 Oktober 2026                                      13 / 28</a:t>
            </a:r>
          </a:p>
        </p:txBody>
      </p:sp>
    </p:spTree>
    <p:extLst>
      <p:ext uri="{BB962C8B-B14F-4D97-AF65-F5344CB8AC3E}">
        <p14:creationId xmlns:p14="http://schemas.microsoft.com/office/powerpoint/2010/main" val="112370670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D45DF50-3835-43C6-83FB-39A85FC27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DOSEN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679B500-11A2-442B-9E70-750F6D72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85800"/>
            <a:ext cx="106984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Membuka dan mengatur sesi presensi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DE043852-FFE8-4CFF-BBDD-824B0E61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4542B71-43A8-401D-ACED-8A25361E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D86327B-E1E8-426F-BA2E-3B622AB3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5720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Langkah penggunaan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1. Buka kelas → Presensi.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2. Tambahkan sesi dan judul.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3. Pilih mode, jadwal dan durasi.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4. Buka sekarang atau jadwalkan.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5. Tampilkan kode bila mode kode dipilih.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FCE9439-B6B0-445F-8A4A-5A66E183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0DDC967-D2EF-4D9B-BBD5-F4F2C2491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FB7BB9C-84A1-44B8-901D-89811B46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28800"/>
            <a:ext cx="45720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Mode dan waktu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Mode satu klik atau kode sesuai sesi.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Kode terdiri dari 6 karakter.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QR membawa mahasiswa ke halaman presensi.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status sesi dan waktu lokal.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Sesi dapat ditutup atau diperpanjang.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223BA-F98B-4211-B137-EFFC8923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648450"/>
            <a:ext cx="10698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E-Learning UAY · Edisi 7 Oktober 2026                                      14 / 28</a:t>
            </a:r>
          </a:p>
        </p:txBody>
      </p:sp>
    </p:spTree>
    <p:extLst>
      <p:ext uri="{BB962C8B-B14F-4D97-AF65-F5344CB8AC3E}">
        <p14:creationId xmlns:p14="http://schemas.microsoft.com/office/powerpoint/2010/main" val="48055436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3387C61-2E74-402E-9376-9E10C8D9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DOSEN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1132AB5-E642-44AA-A33A-A8BDDD66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85800"/>
            <a:ext cx="106984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Koreksi kehadiran dan rekap presensi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520D9212-F8A9-41A0-BF68-43DB744A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BDB2EEC-6A0A-4954-A4D6-B607E5150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1516015-48AC-499A-A56A-0EDD1621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5720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Koreksi manual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Buka rincian sesi presensi.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Pilih peserta dan status kehadiran.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Tambahkan catatan yang diperlukan.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Simpan, lalu periksa rekap.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Koreksi memiliki riwayat perubahan.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94A2A28-D005-419B-B768-2F63DFBE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1F74D62-77EF-469D-A221-931EEC6E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29ABD47-5AF6-44A5-B153-11E0ADEC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28800"/>
            <a:ext cx="45720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Rekap kehadiran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Tinjau sesi yang menjadi dasar hitungan.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Hadir, Izin, Sakit atau Alfa.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Gunakan aturan kelas yang berlaku.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Unduh rekap bila diperlukan.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Jangan menambahkan aturan ujian yang belum ditetapkan.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81A754-A7AB-4FBE-B1F5-C2673DF3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648450"/>
            <a:ext cx="10698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E-Learning UAY · Edisi 7 Oktober 2026                                      15 / 28</a:t>
            </a:r>
          </a:p>
        </p:txBody>
      </p:sp>
    </p:spTree>
    <p:extLst>
      <p:ext uri="{BB962C8B-B14F-4D97-AF65-F5344CB8AC3E}">
        <p14:creationId xmlns:p14="http://schemas.microsoft.com/office/powerpoint/2010/main" val="43531227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FB5C560-1C62-46A8-99BD-A5E723DC7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DOSEN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D38F6C7-EF79-4E2A-B42D-1B867CFA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85800"/>
            <a:ext cx="106984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Tugas dan kuis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C72D83FF-EB3D-4F81-B846-F02AB9A7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64B162E-FCCA-44E0-BFF1-1E78CB900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6BA873C-1F92-4F1C-98E3-FAD8E99A6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5720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Tugas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Isi petunjuk, tenggat dan batas toleransi.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jenis pengumpulan.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Tinjau versi kiriman terbaru.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Simpan penilaian sebagai draf.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Terbitkan hasil setelah diperiksa.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798BAA20-F4DF-49B5-81C3-E4285461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0BE53F3-5EB4-41CD-89A4-DC6ED118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4FE0881-6A7F-41D7-B8DB-8797CF66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28800"/>
            <a:ext cx="45720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Kuis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Tersedia 8 tipe soal.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Soal objektif memakai kunci.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Uraian dan berkas memerlukan koreksi.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Gunakan bank soal atau impor.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Atur kapan hasil dapat dilihat.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0F9B45-EA0F-48DC-B913-77D987D6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648450"/>
            <a:ext cx="10698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E-Learning UAY · Edisi 7 Oktober 2026                                      16 / 28</a:t>
            </a:r>
          </a:p>
        </p:txBody>
      </p:sp>
    </p:spTree>
    <p:extLst>
      <p:ext uri="{BB962C8B-B14F-4D97-AF65-F5344CB8AC3E}">
        <p14:creationId xmlns:p14="http://schemas.microsoft.com/office/powerpoint/2010/main" val="85862694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902C207-9678-4FF6-91DA-A42384E5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DOSEN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EA11447-D4A1-4FD0-A49C-044DD739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85800"/>
            <a:ext cx="106984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Nilai akhir dan penggunaan ulang kelas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2D9A1770-87B1-441B-A3A9-02BC2D42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4DD5D41-35BF-4713-B0BE-CD4E12F4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E83996A-B951-40CA-A077-7A9A6F4D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5720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Nilai akhir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Atur bobot kategori hingga 100%.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sumber nilai setiap kategori.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Hitung dan tinjau hasil.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Terbitkan setelah data siap.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Koreksi mengikuti alur dan riwayat yang tersedia.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9D3057C-1871-42BE-8A37-F39E46381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E5D27A4-BC1C-4450-874C-A0645012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0B927C4-2A8C-4441-9878-2C10280F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28800"/>
            <a:ext cx="45720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Duplikasi kelas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Pilih kelas dan tujuan semester.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Tinjau materi yang akan disalin.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jadwal dan status draf.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Peserta serta jawaban lama tidak menjadi pekerjaan semester baru.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735A2-EC23-434F-990D-ECFD00F0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648450"/>
            <a:ext cx="10698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E-Learning UAY · Edisi 7 Oktober 2026                                      17 / 28</a:t>
            </a:r>
          </a:p>
        </p:txBody>
      </p:sp>
    </p:spTree>
    <p:extLst>
      <p:ext uri="{BB962C8B-B14F-4D97-AF65-F5344CB8AC3E}">
        <p14:creationId xmlns:p14="http://schemas.microsoft.com/office/powerpoint/2010/main" val="53101524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B3943BF1-9A74-43B1-9ACD-9A4B037DE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MAHASISWA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DE5CBDE-FAFA-421A-A619-BFDB92C4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85800"/>
            <a:ext cx="106984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Beranda dan agenda belajar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065262E-9D46-467D-8C99-22494B77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5EAFAC2-51D2-475A-BCC5-3B68C3D4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38A5408-4103-4419-BA7E-68AA26A9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5720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Kelas yang diikuti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Pilih kelas pada semester yang benar.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dosen dan pertemuan.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Baca materi yang sudah tersedia.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Jika kelas kosong, hubungi prodi.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AF171BC-2BB3-485C-82B9-5A22221F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D35DA10-CDA4-48B2-ADD7-B91E54E64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21F1AEE-989F-4938-BD29-9A7AB002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28800"/>
            <a:ext cx="45720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Agenda akademik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Lihat tugas dan kuis mendatang.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Perhatikan tenggat waktu lokal.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Buka kegiatan dari agenda.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kembali status pengumpulan.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1E7AD-016A-410F-892A-7D52EEAD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648450"/>
            <a:ext cx="10698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E-Learning UAY · Edisi 7 Oktober 2026                                      18 / 28</a:t>
            </a:r>
          </a:p>
        </p:txBody>
      </p:sp>
    </p:spTree>
    <p:extLst>
      <p:ext uri="{BB962C8B-B14F-4D97-AF65-F5344CB8AC3E}">
        <p14:creationId xmlns:p14="http://schemas.microsoft.com/office/powerpoint/2010/main" val="201211947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94B9387-3901-4777-882C-05572B70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MAHASISWA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A1E7B20-EEDE-4584-B5AA-7AD741BC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85800"/>
            <a:ext cx="106984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Mengisi presensi dan mempelajari materi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F3D9FE1E-6C50-45CF-80CA-5DF01F66B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9FDAF56-BCFA-49F4-96F3-4E48895A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64297BA-DF64-4112-87FB-3E427BA2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5720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Presensi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1. Buka kelas dan sesi yang aktif.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2. Pilih satu klik atau masukkan kode.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3. Untuk kode, gunakan 6 karakter yang tampil.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4. Kirim dan periksa status tercatat.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QR membuka halaman presensi; ikuti petunjuk sesi.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CE2D7D17-2983-4948-AD77-E2A96E4E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F56F9E8-C338-4CD4-BF79-F6C0EABDF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402117D-440D-479C-8684-AA6BC042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28800"/>
            <a:ext cx="45720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Materi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Buka pertemuan dan materi.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Baca PDF atau artikel; putar video.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progres yang ditampilkan.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Unduh sesuai ketentuan materi.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Laporkan materi yang gagal dibuka.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BBE68-1812-44FB-B3CF-D45559D4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648450"/>
            <a:ext cx="10698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E-Learning UAY · Edisi 7 Oktober 2026                                      19 / 28</a:t>
            </a:r>
          </a:p>
        </p:txBody>
      </p:sp>
    </p:spTree>
    <p:extLst>
      <p:ext uri="{BB962C8B-B14F-4D97-AF65-F5344CB8AC3E}">
        <p14:creationId xmlns:p14="http://schemas.microsoft.com/office/powerpoint/2010/main" val="2054166307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23CF85E-FA57-4964-9F07-25181079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MAHASISWA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5B24665-5E97-4E82-B737-E7D6DF63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85800"/>
            <a:ext cx="106984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Mengirim tugas dan menyelesaikan kuis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F5EB4B03-1BCB-4936-964E-26F3BE1A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EC7F7C3-283C-467B-B1AE-55ABFF24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2414D2E-0FE1-41CB-9CDB-0DEC5DA9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5720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Tugas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Baca petunjuk dan tenggat.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Unggah berkas atau isi jawaban.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Klik tindakan pengumpulan.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riwayat versi dan status.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Unggah berkas saja belum berarti tugas terkumpul.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8B6DFB05-9706-46A7-BA32-98F43B495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8105F16-31F2-42B0-ADC0-025E5A09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B8ED9BE-B9F5-408C-B5B5-BAA361DC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28800"/>
            <a:ext cx="45720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Kuis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waktu dan batas percobaan.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Mulai saat siap.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Perhatikan status simpan jawaban.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Kumpulkan sebelum waktu habis.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Lihat hasil sesuai pengaturan dosen.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C341D8-2585-4D10-8E03-4890BA25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648450"/>
            <a:ext cx="10698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E-Learning UAY · Edisi 7 Oktober 2026                                      20 / 28</a:t>
            </a:r>
          </a:p>
        </p:txBody>
      </p:sp>
    </p:spTree>
    <p:extLst>
      <p:ext uri="{BB962C8B-B14F-4D97-AF65-F5344CB8AC3E}">
        <p14:creationId xmlns:p14="http://schemas.microsoft.com/office/powerpoint/2010/main" val="158794051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EE1973A-3A2E-483A-B91E-B91C37CAD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MAHASISWA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AB643B1-DE85-4148-9492-0481F980D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85800"/>
            <a:ext cx="106984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Membaca kehadiran dan hasil belajar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3CD5317F-2D4C-4DA3-9F2C-38F16631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32F6E23-8F01-43D6-9927-3D6DC6C3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5E01281-E5DE-42C7-8D00-CB5A3499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5720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Kehadiran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Buka rekap presensi kelas.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sesi dan status tercatat.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Ambang mengikuti kebijakan kelas.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Jika belum ada sesi, jangan menganggap persentase sebagai nol.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Koreksi dilakukan oleh petugas yang berwenang.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2B37A7B-7E39-4FCC-9F0B-DB32D540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85BFDDD-68FC-4ACB-A501-B4C632A35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BEBB3D8-6BC1-4C3C-99D1-67F4956EE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28800"/>
            <a:ext cx="45720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Nilai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Buka hasil tugas, kuis atau tab Nilai.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Hasil draf belum dibagikan.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Nilai akhir tampil setelah diterbitkan.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Untuk keberatan atau kekeliruan, hubungi dosen dengan bukti kegiatan.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73E114-EAA9-4082-9133-6AC6561E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648450"/>
            <a:ext cx="10698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E-Learning UAY · Edisi 7 Oktober 2026                                      21 / 28</a:t>
            </a:r>
          </a:p>
        </p:txBody>
      </p:sp>
    </p:spTree>
    <p:extLst>
      <p:ext uri="{BB962C8B-B14F-4D97-AF65-F5344CB8AC3E}">
        <p14:creationId xmlns:p14="http://schemas.microsoft.com/office/powerpoint/2010/main" val="1144672193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CBA76C98-2243-416A-9FB7-5B403D65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PENILAIAN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D36643F-C12D-4301-81AA-948826E4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85800"/>
            <a:ext cx="106984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Skala dan bobot pada kelas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865022E1-DD2C-4710-A5D3-73626DCF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37FFECE-B94C-4099-B957-0AC520DE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9AD9F8B-B026-4533-B12E-DE480D6A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5720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Versi skala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Buka Bantuan → Konversi nilai.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versi yang dipakai kelas.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Tabel menampilkan skor minimum, huruf dan indeks.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Gunakan skala tersebut saat membaca hasil.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F6FDB22-18FC-4F41-9C5A-8CF155E18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CBDE030-BEA4-4C41-AB46-7113F225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0CA7902E-3F42-481A-9994-B39A0FD6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28800"/>
            <a:ext cx="45720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Bobot kategori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Total bobot harus 100%.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Nilai mengikuti sumber kategori.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hasil sebelum diterbitkan.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Mengubah default tidak mengganti versi nilai akhir yang telah terbit.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F2890-6F61-4619-AD6D-FA8951CC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648450"/>
            <a:ext cx="10698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E-Learning UAY · Edisi 7 Oktober 2026                                      22 / 28</a:t>
            </a:r>
          </a:p>
        </p:txBody>
      </p:sp>
    </p:spTree>
    <p:extLst>
      <p:ext uri="{BB962C8B-B14F-4D97-AF65-F5344CB8AC3E}">
        <p14:creationId xmlns:p14="http://schemas.microsoft.com/office/powerpoint/2010/main" val="133419834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6275E1C-2AE2-4AA6-B85E-63148363F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SOLUSI KENDALA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725522C-E35A-4F81-ACA9-75D4EA10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85800"/>
            <a:ext cx="106984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Langkah saat data atau halaman bermasalah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A054EBFE-CC21-4168-90E0-6973F74C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6B06A1F-9505-43D0-80FC-1B7425E0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8246F18-5C12-4294-9A2E-DAA4D3FE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5720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Presensi dan materi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kelas, jadwal dan status sesi.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Salin kode 6 karakter dengan benar.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Bila sesi sudah tutup, hubungi dosen.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Untuk materi gagal dibuka, catat judul dan pesan kesalahan.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40DFF7BE-7A4A-4F06-B286-21704BBB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A2EDBC1-5482-4AFC-8D11-992963C6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70103FE-902D-4938-A558-456E9F15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28800"/>
            <a:ext cx="4572000" cy="4251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Sesi dan pengumpulan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0F172A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Jika sesi berakhir, masuk kembali.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Jika pemuatan gagal, gunakan Coba lagi.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status jawaban tersimpan.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Catat waktu lokal dan nomor permintaan bila tersedia.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CB431D-CFBD-40DD-82FB-856CB6A8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648450"/>
            <a:ext cx="10698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E-Learning UAY · Edisi 7 Oktober 2026                                      23 / 28</a:t>
            </a:r>
          </a:p>
        </p:txBody>
      </p:sp>
    </p:spTree>
    <p:extLst>
      <p:ext uri="{BB962C8B-B14F-4D97-AF65-F5344CB8AC3E}">
        <p14:creationId xmlns:p14="http://schemas.microsoft.com/office/powerpoint/2010/main" val="62671969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020FC62-8253-4994-A1CC-60D1B9C1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1153884-8AA3-4E8C-9411-8B045922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100" b="1">
                <a:solidFill>
                  <a:srgbClr val="22C55E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22C55E"/>
                </a:solidFill>
                <a:latin typeface="Arial"/>
                <a:ea typeface="Arial"/>
                <a:cs typeface="Arial"/>
              </a:rPr>
              <a:t>BANTUAN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528C64F-9147-4291-85F6-ED290BD8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85800"/>
            <a:ext cx="106984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F8FAFC"/>
                </a:solidFill>
                <a:latin typeface="Arial"/>
                <a:ea typeface="Arial"/>
                <a:cs typeface="Arial"/>
              </a:rPr>
              <a:t>Buku panduan pada tab baru sesuai peran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785BEC7-2D8E-4307-A159-F3746C7F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62D1C87C-11C2-4E96-A3E6-3C4A7083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E57CB30-B212-4380-AA8E-B24B6EE99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572000" cy="406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Membuka panduan HTML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F8FAFC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1. Pilih menu Bantuan.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2. Klik Buka buku panduan (tab baru).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3. Baca bagian yang sesuai peran akun.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4. Gunakan pencarian atau daftar isi.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5. Kembali ke tab aplikasi setelah selesai.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B8D0AFDD-946A-40C0-8B11-10D3DEE1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4389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33415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767563C-9C57-4AD4-9A84-6BA23959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B4A8152-E594-4AC5-AB67-210BC979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828800"/>
            <a:ext cx="4572000" cy="4069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Isi dan dukungan</a:t>
            </a:r>
          </a:p>
          <a:p xmlns:a="http://schemas.openxmlformats.org/drawingml/2006/main">
            <a:pPr>
              <a:spcAft>
                <a:spcPts val="800"/>
              </a:spcAft>
              <a:buNone/>
              <a:defRPr sz="1500" b="1">
                <a:solidFill>
                  <a:srgbClr val="F8FAFC"/>
                </a:solidFill>
              </a:defRPr>
            </a:pPr>
            <a:r>
              <a:t/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Langkah bernomor tanpa kotak centang.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Panduan tidak mengganti peran akun.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Buku memuat 38 tutorial untuk 5 peran.</a:t>
            </a:r>
          </a:p>
          <a:p xmlns:a="http://schemas.openxmlformats.org/drawingml/2006/main">
            <a:pPr>
              <a:spcAft>
                <a:spcPts val="400"/>
              </a:spcAft>
              <a:buNone/>
              <a:defRPr sz="17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8FAFC"/>
                </a:solidFill>
                <a:latin typeface="Arial"/>
                <a:ea typeface="Arial"/>
                <a:cs typeface="Arial"/>
              </a:rPr>
              <a:t>Hubungi prodi atau pengelola akun kampus untuk kendala yang belum selesai.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5D2F7-A263-4E2A-AF71-D4342381D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648450"/>
            <a:ext cx="10698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E-Learning UAY · Edisi 7 Oktober 2026                                      24 / 28</a:t>
            </a:r>
          </a:p>
        </p:txBody>
      </p:sp>
    </p:spTree>
    <p:extLst>
      <p:ext uri="{BB962C8B-B14F-4D97-AF65-F5344CB8AC3E}">
        <p14:creationId xmlns:p14="http://schemas.microsoft.com/office/powerpoint/2010/main" val="170649793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927468-B909-46AA-AF87-C83E7261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REKTOR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254C81-20FF-43C4-9181-6C381E530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85800"/>
            <a:ext cx="106984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Membaca ringkasan dan memilih periode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139B1-C558-469E-9157-51DB62C3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668">
            <a:solidFill>
              <a:srgbClr val="E2E8F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E63D26-550B-43A6-AD44-C05A671C5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9B2C0-8AD0-441A-B90E-872CBEE8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05000"/>
            <a:ext cx="45720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Pilih cakupan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Semester dan rentang tanggal.</a:t>
            </a:r>
          </a:p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Program studi, dosen atau kelas.</a:t>
            </a:r>
          </a:p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Pilihan tersimpan pada alamat halaman.</a:t>
            </a:r>
          </a:p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Unduhan memakai pilihan yang sama.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C8CA4-CC25-465C-A1A5-617296052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668">
            <a:solidFill>
              <a:srgbClr val="E2E8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220478-7DA1-444E-99B4-68E131EB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835F2E-877A-4F73-8F4F-B4D9EA34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05000"/>
            <a:ext cx="45720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Makna angka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Kegiatan dihitung dalam periode.</a:t>
            </a:r>
          </a:p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Kondisi kelas memakai Data terakhir.</a:t>
            </a:r>
          </a:p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Dimuat adalah waktu membuka data.</a:t>
            </a:r>
          </a:p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Pemeriksaan ulang setiap 5 menit tidak membuat kegiatan baru.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2E9203-8EC3-4167-AD57-6F9F5964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648450"/>
            <a:ext cx="10698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E-Learning UAY · Edisi 7 Oktober 2026                                      25 / 28</a:t>
            </a:r>
          </a:p>
        </p:txBody>
      </p:sp>
    </p:spTree>
    <p:extLst>
      <p:ext uri="{BB962C8B-B14F-4D97-AF65-F5344CB8AC3E}">
        <p14:creationId xmlns:p14="http://schemas.microsoft.com/office/powerpoint/2010/main" val="120590670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08CEE-067F-4346-85FF-380576A5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REKTOR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EC861B-F6FD-4233-A417-B304D6F4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85800"/>
            <a:ext cx="106984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Menelusuri dosen kelas dan pekerjaan penilaian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C1327-E96C-4500-9FB6-6A8784A4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668">
            <a:solidFill>
              <a:srgbClr val="E2E8F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563D19-751B-42B1-B235-AE4878F5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496C51-FC55-4574-9CFF-65943CED0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05000"/>
            <a:ext cx="45720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Dosen dan kelas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Buka Dosen &amp; kelas lalu pilih nama.</a:t>
            </a:r>
          </a:p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Lihat kelas dan kontribusi pengampu.</a:t>
            </a:r>
          </a:p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Buka rincian kelas serta kegiatan.</a:t>
            </a:r>
          </a:p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Kegiatan dihitung atas nama pelakunya.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5C7C7-7BF7-4206-A7F2-B4EE57447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668">
            <a:solidFill>
              <a:srgbClr val="E2E8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6BF08-9661-4859-ABE5-5188C511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74F6BE-BEE7-42D2-A319-B73F5782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05000"/>
            <a:ext cx="45720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Progres penilaian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Pekerjaan belum dinilai dan umur antrean.</a:t>
            </a:r>
          </a:p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Nilai draf, terbit dan koreksi.</a:t>
            </a:r>
          </a:p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Kuis otomatis terpisah dari penilaian manual.</a:t>
            </a:r>
          </a:p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Kiriman yang digantikan tidak masuk antrean.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1C281E-C0DA-4326-A21A-05B26300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648450"/>
            <a:ext cx="10698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E-Learning UAY · Edisi 7 Oktober 2026                                      26 / 28</a:t>
            </a:r>
          </a:p>
        </p:txBody>
      </p:sp>
    </p:spTree>
    <p:extLst>
      <p:ext uri="{BB962C8B-B14F-4D97-AF65-F5344CB8AC3E}">
        <p14:creationId xmlns:p14="http://schemas.microsoft.com/office/powerpoint/2010/main" val="183898102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3FDCC-890B-44AD-9DC9-D26F17AA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REKTOR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D56721-0B47-4579-9224-F7C3D1D9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85800"/>
            <a:ext cx="106984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Riwayat kegiatan dan grafik 24 jam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4CD14D-30B1-4FB6-802E-B68AD6D7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668">
            <a:solidFill>
              <a:srgbClr val="E2E8F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B4E65-3CA6-43E9-A2EE-8A475918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53203-6CFE-4B53-8BB8-5DC1F3C13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05000"/>
            <a:ext cx="45720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Rentang yang tercatat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Grafik harian 00.00 sampai 24.00.</a:t>
            </a:r>
          </a:p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Mengikuti zona waktu perangkat.</a:t>
            </a:r>
          </a:p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Sesi memakai waktu masuk dan keluar.</a:t>
            </a:r>
          </a:p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Jika keluar belum tercatat, tidak diperkirakan.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E230E-6941-4784-A0DA-B3F376EA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668">
            <a:solidFill>
              <a:srgbClr val="E2E8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788B3-1B99-4D73-A2F1-0E508150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20C9EE-3443-407A-9301-9F7CDCC5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05000"/>
            <a:ext cx="45720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Cara menafsirkan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Login dan akses kelas bukan kegiatan akademik.</a:t>
            </a:r>
          </a:p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Rentang masuk bukan durasi kerja.</a:t>
            </a:r>
          </a:p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Admin dan sistem memiliki kategori sendiri.</a:t>
            </a:r>
          </a:p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Tidak ada skor atau peringkat otomatis.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182F62-0D05-412B-84BD-D3ACDF21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648450"/>
            <a:ext cx="10698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E-Learning UAY · Edisi 7 Oktober 2026                                      27 / 28</a:t>
            </a:r>
          </a:p>
        </p:txBody>
      </p:sp>
    </p:spTree>
    <p:extLst>
      <p:ext uri="{BB962C8B-B14F-4D97-AF65-F5344CB8AC3E}">
        <p14:creationId xmlns:p14="http://schemas.microsoft.com/office/powerpoint/2010/main" val="36024639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5DC25-4603-43EE-8052-0B1ECB44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5760"/>
            <a:ext cx="10698480" cy="365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00" b="1">
                <a:solidFill>
                  <a:srgbClr val="166534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66534"/>
                </a:solidFill>
                <a:latin typeface="Arial"/>
                <a:ea typeface="Arial"/>
                <a:cs typeface="Arial"/>
              </a:rPr>
              <a:t>REKTOR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7B91A6-57F5-41EF-A558-B58EE540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85800"/>
            <a:ext cx="1069848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1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2200" b="1">
                <a:solidFill>
                  <a:srgbClr val="0F172A"/>
                </a:solidFill>
                <a:latin typeface="Arial"/>
                <a:ea typeface="Arial"/>
                <a:cs typeface="Arial"/>
              </a:rPr>
              <a:t>Menyimpan laporan dan menilai konteksnya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FBE657-7214-47A7-A234-82BCC628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668">
            <a:solidFill>
              <a:srgbClr val="E2E8F0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C9C446-8B32-4AEB-8D07-3EFDDDE79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6534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D6BCEC-FC48-4899-A7CA-FB4D1DAD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905000"/>
            <a:ext cx="45720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Unduhan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CSV memuat seluruh baris yang cocok.</a:t>
            </a:r>
          </a:p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PDF mengikuti halaman dan filter.</a:t>
            </a:r>
          </a:p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Periksa waktu data serta label demo.</a:t>
            </a:r>
          </a:p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Gunakan periode yang sama untuk pembandingan.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D748F8-7662-4E61-ABC3-1046FA5B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4572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668">
            <a:solidFill>
              <a:srgbClr val="E2E8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44587-6DD0-4924-9ABE-2170766C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645920"/>
            <a:ext cx="512064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814B0-F2E4-452A-9F44-50429656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905000"/>
            <a:ext cx="457200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Batas laporan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Identitas dan nilai mahasiswa tidak tampil.</a:t>
            </a:r>
          </a:p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Jawaban serta umpan balik mahasiswa tidak tampil.</a:t>
            </a:r>
          </a:p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Presensi, forum dan telekonferensi belum tersedia pada laporan rektor.</a:t>
            </a:r>
          </a:p>
          <a:p xmlns:a="http://schemas.openxmlformats.org/drawingml/2006/main">
            <a:pPr>
              <a:defRPr sz="1875" b="0">
                <a:solidFill>
                  <a:srgbClr val="0F172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0F172A"/>
                </a:solidFill>
                <a:latin typeface="Arial"/>
                <a:ea typeface="Arial"/>
                <a:cs typeface="Arial"/>
              </a:rPr>
              <a:t>Gunakan laporan sebagai bahan pertimbangan.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3B9D09-FFB3-4154-878C-0B0F7276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648450"/>
            <a:ext cx="1069848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4748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4748B"/>
                </a:solidFill>
                <a:latin typeface="Arial"/>
                <a:ea typeface="Arial"/>
                <a:cs typeface="Arial"/>
              </a:rPr>
              <a:t>E-Learning UAY · Edisi 7 Oktober 2026                                      28 / 28</a:t>
            </a:r>
          </a:p>
        </p:txBody>
      </p:sp>
    </p:spTree>
    <p:extLst>
      <p:ext uri="{BB962C8B-B14F-4D97-AF65-F5344CB8AC3E}">
        <p14:creationId xmlns:p14="http://schemas.microsoft.com/office/powerpoint/2010/main" val="159385403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2026-10-07T05:20:50.9260000Z</dcterms:created>
  <dcterms:modified xsi:type="dcterms:W3CDTF">2026-10-07T05:20:50.9260000Z</dcterms:modified>
</coreProperties>
</file>