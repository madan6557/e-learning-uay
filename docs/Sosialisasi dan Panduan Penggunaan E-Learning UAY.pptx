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9728" cy="29260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2C55E"/>
                </a:solidFill>
              </a:defRPr>
            </a:pPr>
            <a:r>
              <a:t>UNIVERSITAS ACHMAD YANI BANJARMASIN</a:t>
            </a:r>
          </a:p>
          <a:p>
            <a:pPr>
              <a:spcBef>
                <a:spcPts val="800"/>
              </a:spcBef>
              <a:defRPr sz="3200" b="1">
                <a:solidFill>
                  <a:srgbClr val="F8FAFC"/>
                </a:solidFill>
              </a:defRPr>
            </a:pPr>
            <a:r>
              <a:t>SOSIALISASI &amp; PANDUAN PENGGUNAAN</a:t>
            </a:r>
            <a:br/>
            <a:r>
              <a:t>E-LEARNING RESMI UAY</a:t>
            </a:r>
          </a:p>
          <a:p>
            <a:pPr>
              <a:spcBef>
                <a:spcPts val="1200"/>
              </a:spcBef>
              <a:defRPr sz="1400">
                <a:solidFill>
                  <a:srgbClr val="94A3B8"/>
                </a:solidFill>
              </a:defRPr>
            </a:pPr>
            <a:r>
              <a:t>Panduan Operasional Lengkap: Super Admin · Admin Program Studi · Dosen Pengampu · Mahasiswa</a:t>
            </a:r>
          </a:p>
          <a:p>
            <a:pPr>
              <a:spcBef>
                <a:spcPts val="1800"/>
              </a:spcBef>
              <a:defRPr sz="1100" i="1">
                <a:solidFill>
                  <a:srgbClr val="D97706"/>
                </a:solidFill>
              </a:defRPr>
            </a:pPr>
            <a:r>
              <a:t>Tahun Akademik 2026/2027 · Single Sign-On (SSO) Terintegrasi · Dashboard Rektor Live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LATAR BELAKANG &amp; VISI INSTITUSI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Transformasi Pembelajaran Digital Terstandar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2918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7432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KEAMANAN TERPUSAT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Satu Pintu Akses (SSO)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Terintegrasi dengan Akun Resmi Kampus (SSO UAY)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Satu akun terpadu untuk seluruh layanan kampus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Dukungan verifikasi dua faktor (MFA/2FA)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Keamanan akun terlindungi dan tersinkronisasi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645920"/>
            <a:ext cx="329184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28800"/>
            <a:ext cx="27432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DISIPLIN AKADEMIK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Akuntabilitas Kehadiran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Presensi mandiri kode 6-digit &amp; QR Code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Mode layar proyektor interaktif di kelas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Pencatatan izin/sakit dengan catatan surat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Otomatisasi ambang kelayakan ujian 75%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45920"/>
            <a:ext cx="32918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828800"/>
            <a:ext cx="27432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TRANSPARANSI PIMPINAN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Monitoring Real-Time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Koneksi langsung ke Dashboard Rektor UAY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Isolasi data rapi per program studi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Dukungan pengajaran dosen lintas prodi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Kalkulasi nilai otomatis berbasis bobot mutu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ARSITEKTUR TERINTEGRASI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Topologi Ekosistem Teknologi Informasi UAY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46888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92024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SATU PINTU AKSES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1. Akun Kampus Terpadu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Gerbang masuk resmi universitas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Masuk menggunakan NIM atau Email UAY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Pengenalan peran Mahasiswa &amp; Dosen otomatis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Keluar aman terpadu (Logout)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0" y="1645920"/>
            <a:ext cx="246888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0" y="1828800"/>
            <a:ext cx="192024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LMS CORE ENGINE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2. E-Learning Core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Manajemen perkuliahan semester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Materi digital, tugas, &amp; kuis 8 tipe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Presensi hibrida proyektor &amp; roster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Buku nilai (Gradebook) otomatis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246888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192024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CLOUD STORAGE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3. File Service UAY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Penyimpanan silabus, PDF &amp; PPT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Streaming video kuliah anti-skip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Pengumpulan tugas berkas dokumen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Kuota &amp; retensi berkas terpusat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61120" y="1645920"/>
            <a:ext cx="2468880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1828800"/>
            <a:ext cx="192024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2C55E"/>
                </a:solidFill>
              </a:defRPr>
            </a:pPr>
            <a:r>
              <a:t>EXECUTIVE TELEMETRY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4. Dashboard Rektor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Snapshot telemetri mingguan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Monitoring keaktifan 4 fakultas &amp; 12 prodi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Rasio kehadiran mahasiswa universitas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Evaluasi mutu pembelajaran berkala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ROLE-BASED ACCESS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Klasifikasi Peran &amp; Tanggung Jawab Operasional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468880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92024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9333EA"/>
                </a:solidFill>
              </a:defRPr>
            </a:pPr>
            <a:r>
              <a:t>TINGKAT UNIVERSITAS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Super Admin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Universal Scope seluruh fakultas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Atur kebijakan nilai &amp; tahun ajaran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Kelola master katalog mata kuliah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Sinkronisasi SSO &amp; bridging Rektor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0" y="1645920"/>
            <a:ext cx="246888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0" y="1828800"/>
            <a:ext cx="192024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TINGKAT PROGRAM STUDI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Admin Prodi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Department Scoped (terisolasi prodi)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Buat rombel kelas semester baru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Tugaskan dosen utama &amp; lintas prodi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Kelola pendaftaran &amp; status mahasiswa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246888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192024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TINGKAT KELAS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Dosen Pengampu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Susun pertemuan, silabus &amp; materi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Buka presensi proyektor (kode 6-digit)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Kelola tugas &amp; evaluasi (8 ragam kuis)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Atur bobot gradebook &amp; kloning kelas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61120" y="1645920"/>
            <a:ext cx="246888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1828800"/>
            <a:ext cx="192024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PESERTA DIDIK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Mahasiswa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Akses materi kuliah (PDF, slide, video)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Isi presensi mandiri (kode/scan QR)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Kirim berkas tugas &amp; ikuti kuis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Pantau syarat kelayakan ujian &gt;= 75%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GERBANG MASUK AKUN KAMPUS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Autentikasi Terpadu &amp; Prosedur Masuk Pengguna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ALUR MASUK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Langkah Masuk Pengguna (Semua Peran)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1. Buka situs https://e-learning.uay.ac.id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2. Klik tombol utama 'Masuk dengan Akun Kampus (SSO UAY)'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3. Masukkan Email Kampus Resmi / NIM Anda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4. Masukkan Kata Sandi akun kampus Anda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5. Jika diminta: masukkan kode verifikasi SMS/Aplikasi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6. Sistem otomatis mengenali peran Anda dan membuka beranda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Catatan: Cukup satu akun kampus untuk seluruh layanan UAY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PROTOKOL KEAMANAN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Keamanan Akun &amp; Tips Operasional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Satu Akun Kampus: Terhubung langsung data induk universitas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Keluar Bersih (Logout): Selalu klik 'Keluar' pada komputer lab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Reset Kata Sandi: Klik 'Lupa Kata Sandi' atau hubungi TIK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Kenyamanan Sesi: Sesi tetap aktif selama Anda beraktivitas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Keamanan Berlapis: Aktivitas perkuliahan tercatat akuntabel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PERAN: SUPER ADMINISTRATOR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Kendali Sistem Menyeluruh &amp; Kebijakan Kampus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2918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7432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AKSES GLOBAL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Universal Scope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Akses tanpa batas lintas seluruh prodi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Monitoring 4 fakultas &amp; 12 prodi aktif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Pencarian dosen &amp; mahasiswa se-kampus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Pengawasan status akun ACTIVE / DISABLED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645920"/>
            <a:ext cx="329184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28800"/>
            <a:ext cx="27432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MASTER DATA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Katalog Mata Kuliah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Master database kurikulum institusi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Pengaturan kode mata kuliah resmi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Penetapan bobot SKS (1–6 SKS)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Pemetaan kepemilikan prodi &amp; kurikulum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45920"/>
            <a:ext cx="32918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828800"/>
            <a:ext cx="27432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SECURITY AUDIT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Audit Log &amp; Keamanan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Rekam jejak setiap aksi krusial sistem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Pelacakan pengubahan nilai oleh staf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Pencatatan alamat IP dan timestamp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Pencegahan sengketa data akademik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PERAN: SUPER ADMINISTRATOR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Konfigurasi Periode &amp; Standar Skala Mutu Nilai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KALENDER AKADEMIK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Pengaturan Tahun Ajaran Aktif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Buka tombol 'Kebijakan &amp; Tahun Ajaran' di dashboard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Tentukan semester berjalan (contoh: 2026/2027 Ganjil)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Atur daftar pilihan semester untuk pembuatan kelas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Kunci semester yang telah selesai untuk proteksi arsip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Sinkronisasi label semester dengan kalender universitas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STANDAR PENILAIAN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Standar Skala Nilai Huruf Mutu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Pilih Preset Aktif: 'Standar Akademik UAY 2026/2027'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Skala huruf terstandar: A (85), A- (80), B+ (75), B (70)...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Menjamin keseragaman konversi nilai di seluruh kelas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Tersedia preset historis untuk keperluan arsip lama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Otomatis diterapkan pada seluruh Buku Nilai (Gradebook)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INTEGRASI DASHBOARD REKTOR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Pemantauan Eksekutif untuk Pimpinan UAY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PEMANTAUAN PIMPINAN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Konektivitas Pemantauan Kampus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Sinkronisasi otomatis ke Dashboard Rektor UAY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Akses terlindungi khusus pimpinan universitas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Menyajikan ringkasan tanpa mengganggu perkuliahan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Pembaruan data keaktifan kuliah secara waktu nyata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Digunakan oleh Rektorat &amp; Penjaminan Mutu (BPM)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2C55E"/>
                </a:solidFill>
              </a:defRPr>
            </a:pPr>
            <a:r>
              <a:t>RINGKASAN EKSEKUTIF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Metrik yang Disajikan ke Rektor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Total kelas perkuliahan aktif se-kampus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Total materi kuliah terbit (PDF, Slide, Video)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Jumlah tugas &amp; kuis yang sedang berlangsung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Rata-rata persentase presensi kehadiran universitas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Persentase mahasiswa yang memenuhi syarat ujian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PERAN: ADMIN PROGRAM STUDI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Pengelolaan Kelas di Tingkat Program Studi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PRINSIP KEAMANAN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Prinsip Isolasi Data (Department Scoping)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Admin Prodi hanya dapat melihat data prodi sendiri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Privasi mahasiswa &amp; kurikulum antar-prodi terlindungi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Mencegah kesalahan administrasi lintas fakultas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Satu admin dapat memegang lebih dari satu prodi jika ditugaskan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Data nilai mahasiswa tersimpan aman dan terisolasi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ALUR PEMBUATAN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Prosedur Pembuatan Kelas Baru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1. Klik tombol '+ Kelas Baru' di Beranda Admin Prodi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2. Pilih Mata Kuliah dari katalog prodi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3. Tulis Nama Rombel (contoh: IF-201 Kelas A)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4. Pilih Tahun Ajaran aktif (2026/2027 Ganjil)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5. Masukkan kapasitas maksimal mahasiswa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6. Simpan kelas (status awal DRAFT)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7. Terbitkan (PUBLISH) saat perkuliahan dimulai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PERAN: ADMIN PROGRAM STUDI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Penugasan Pengampu &amp; Pendaftaran Mahasiswa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MANAJEMEN DOSEN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Penugasan Dosen (Termasuk Lintas Prodi)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Buka tab 'Peserta &amp; Pengampu' di kelas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Cari dosen berdasarkan Nama atau NIDN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Dosen dari prodi lain dapat dicari dan ditugaskan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Tentukan peran: Dosen Utama atau Team Teaching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Dosen otomatis melihat kelas tersebut di dashboard-nya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MANAJEMEN MAHASISWA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Pendaftaran Mahasiswa (Enrollment)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Tambah mahasiswa perorangan atau massal via NIM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Pantau kuota kapasitas kelas secara real-time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Fitur Nonaktifkan Peserta (Toggle Status):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Mahasiswa cuti/mundur dapat dinonaktifkan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Tidak bisa akses materi baru, namun riwayat tersimpan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Dapat diaktifkan kembali sewaktu-waktu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PERAN: ADMIN PROGRAM STUDI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Pengawasan Kesiapan Kuliah Sebelum Semester Dimulai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2918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7432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KESIAPAN AWAL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Audit Silabus &amp; Draf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Pantau kelas yang masih DRAFT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Pastikan dosen unggah silabus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Verifikasi materi minggu 1 s.d. 3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Dorong penerbitan kelas tepat waktu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645920"/>
            <a:ext cx="329184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28800"/>
            <a:ext cx="27432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KEDISIPLINAN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Monitoring Presensi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Pantau kelas yang rutin buka sesi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Deteksi kelas dengan presensi rendah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Pastikan aturan 75% disosialisasikan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Bantu dosen jika terjadi kendala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45920"/>
            <a:ext cx="3291840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828800"/>
            <a:ext cx="27432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2C55E"/>
                </a:solidFill>
              </a:defRPr>
            </a:pPr>
            <a:r>
              <a:t>PELAPORAN MUTU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Pelaporan Akademik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Unduh rekapitulasi presensi prodi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Verifikasi nilai sebelum tutup semester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Cetak Berita Acara Perkuliahan (BAP)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Laporan berkala ke Ketua Program Studi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PERAN: DOSEN PENGAMPU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Ruang Kerja Utama Pengajaran Dosen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DASHBOARD PENGAJAR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Dashboard Dosen &amp; Filter Multi-Prodi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Daftar seluruh kelas aktif yang diampu semester ini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Filter Program Studi: Mempermudah dosen lintas prodi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Kartu ringkasan: jumlah peserta, progres silabus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Akses cepat ke tab Presensi dan Buku Nilai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Notifikasi pengumuman dan pesan akademik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GRADING QUEUE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Antrean Penilaian (Grading Queue)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Menampilkan tugas mahasiswa yang menunggu dinilai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Menampilkan kuis bertipe Esai yang perlu koreksi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Indikator tenggat waktu pengumpulan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Klik langsung untuk membuka lembar koreksi tugas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Memastikan penilaian dosen tepat waktu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PERAN: DOSEN PENGAMPU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Pengorganisasian Pertemuan &amp; Konten 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46888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92024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BAHAN AJAR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Dokumen (PDF/DOC)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Untuk silabus perkuliahan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Modul &amp; panduan praktikum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Pratinjau langsung di web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Pencatatan halaman dibaca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0" y="1645920"/>
            <a:ext cx="246888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0" y="1828800"/>
            <a:ext cx="192024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PRESENTASI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Slide (PPT/PPTX)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Salindia materi kuliah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Navigasi slide interaktif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Dukungan fullscreen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Pelacakan pemahaman slide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246888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192024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VIDEO INTERAKTIF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Video Kuliah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Streaming rekaman kuliah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Anti-Skip Tracker (waktu nyata)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Melompati linimasa dicegah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Syarat tuntas sebelum unduh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61120" y="1645920"/>
            <a:ext cx="2468880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1828800"/>
            <a:ext cx="192024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2C55E"/>
                </a:solidFill>
              </a:defRPr>
            </a:pPr>
            <a:r>
              <a:t>EKSTRA BAHAN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Lainnya (Resource)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Dataset praktikum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Source code &amp; tautan GitHub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Tautan referensi eksternal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Lampiran materi pendukung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FITUR UNGGULAN PRESENSI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Presensi Mandiri Interaktif di Ruang Kuliah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ALUR OPERASIONAL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Langkah Membuka Presensi Proyektor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1. Buka kelas Anda -&gt; Masuk ke tab 'Presensi'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2. Klik tombol 'Buka Sesi Presensi Baru'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3. Masukkan judul (contoh: Pertemuan 5 - Basis Data)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4. Pilih durasi aktif (15 / 30 / 60 Menit)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5. Klik 'Buka Presensi Sekarang'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6. Proyeksikan layar laptop ke proyektor kelas!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Mahasiswa langsung melihat Kode 6-Digit &amp; QR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TAMPILAN PROYEKTOR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Komponen Mode Layar Proyektor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Kode 6-Digit Raksasa (contoh: 4 1 8 9 2 0)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QR Code Dinamis: Siap dipindai kamera ponsel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Countdown Timer: Penghitung mundur waktu aktif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Live Counter: Jumlah mahasiswa hadir secara realtime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Keamanan: Kode otomatis kadaluarsa setelah durasi habis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FITUR PRESENSI DOSEN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Koreksi Presensi Manual &amp; Penanganan Izin/Sakit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KOREKSI MANUAL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Lembar Presensi (Roster) Manual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Gunakan jika mahasiswa terkendala gawai/baterai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Pilihan Status: Hadir, Izin, Sakit, atau Alfa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Kolom Catatan: Masukkan nomor surat izin/sakit dokter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Status Izin resmi tetap dihitung dalam persentase kelayakan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Setiap koreksi tersimpan aman dalam audit log kelas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2C55E"/>
                </a:solidFill>
              </a:defRPr>
            </a:pPr>
            <a:r>
              <a:t>AKSI EFISIEN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Tombol Cepat 'Tandai Semua Hadir'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Pada kelas tatap muka yang dihadiri seluruh mahasiswa: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1. Klik tombol 'Tandai Semua Hadir' sekali klik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2. Seluruh status Alfa otomatis berubah menjadi Hadir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3. Ubah 1-2 mahasiswa yang berhalangan menjadi Izin/Sakit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4. Klik 'Simpan Presensi'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Menghemat waktu dosen tanpa perlu klik satu per satu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PERAN: DOSEN PENGAMPU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Evaluasi Pembelajaran: Tugas &amp; Mesin Kuis Canggih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PENUGASAN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Pengelolaan Tugas Kuliah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Tenggat Waktu (Due Date) &amp; Batas Toleransi (Cut-off Date)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Rubrik penilaian transparan bagi mahasiswa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Dukungan berkas PDF, DOCX, ZIP, atau Google Drive link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Koreksi berkas &amp; masukan kualitatif per mahasiswa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Nilai tugas otomatis masuk ke Buku Nilai (Gradebook)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MESIN EVALUASI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8 Ragam Tipe Soal Kuis &amp; Ujian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1. Pilihan Ganda Tunggal    5. Menjodohkan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2. Pilihan Ganda Kompleks   6. Mengurutkan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3. Benar / Salah            7. Esai Terbuka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4. Isian Singkat            8. Unggah Berkas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Fitur Unggulan: Bank Soal &amp; Impor Massal via Excel!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4 Mode Hasil: AUTO, HIDDEN, MANUAL, SCHEDULED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PERAN: DOSEN PENGAMPU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Buku Nilai Otomatis &amp; Efisiensi Semester Baru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GRADEBOOK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Buku Nilai (Gradebook) Otomatis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Atur bobot kategori (total wajib 100%):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Presensi Kehadiran (10%)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Tugas &amp; Praktikum (20%)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Kuis (15%) · UTS (25%) · UAS (30%)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Kalkulasi nilai otomatis ke Huruf Mutu UAY (A - E)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Ekspor nilai akhir ke CSV untuk berkas BAP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KLONING CERDAS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Fitur Kloning Kelas Semester Baru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Duplikasi materi tanpa mengetik ulang dari awal: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Seluruh silabus, materi &amp; kuis disalin ke Draf Bersih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Jadwal tugas &amp; kuis otomatis di-reset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Mahasiswa kelas lama TIDAK diikutsertakan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Mempersiapkan semester baru hanya dalam 2 menit!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PERAN: MAHASISWA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Ruang Belajar Mandiri Mahasiswa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BERANDA BELAJAR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Beranda Pembelajaran Mahasiswa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Kartu Mata Kuliah Aktif semester berjalan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Informasi Dosen Pengampu &amp; Bobot SKS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Persentase progres belajar setiap mata kuliah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Pemberitahuan materi baru dan pengumuman dosen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Akses mudah via laptop maupun ponsel pintar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TIME MANAGEMENT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Agenda &amp; Tenggat Waktu Terpusat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Daftar seluruh tugas &amp; kuis dari semua mata kuliah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Disusun urut waktu mendekati batas pengumpulan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Membantu mahasiswa mengatur waktu belajar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Peringatan tugas yang belum dikumpulkan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Menghindari keterlambatan pengumpulan tugas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PERAN: MAHASISWA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Cara Mahasiswa Mengisi Presensi &amp; Belajar Materi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PRESENSI MANDIRI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Alur Presensi Mandiri (Kode 6-Digit)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1. Buka mata kuliah saat sesi dimulai di kelas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2. Klik banner 'Presensi Sedang Dibuka'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3. Masukkan 6 Digit Kode di layar proyektor dosen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   (atau scan QR code menggunakan kamera ponsel)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4. Klik 'Kirim Presensi Sekarang'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5. Konfirmasi lencana hijau HADIR langsung muncul!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PROGRES BELAJAR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Mempelajari Materi &amp; Syarat Unduh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Dokumen PDF: Baca langsung di penampil terintegrasi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Slide Presentasi: Navigasi halaman demi halaman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Video Kuliah: Tonton utuh (Anti-skip mendeteksi waktu nyata)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Tombol Unduh: Terbuka otomatis setelah progres 100%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Semua aktivitas belajar tercatat untuk evaluasi dosen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PERAN: MAHASISWA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Pengumpulan Tugas &amp; Pengerjaan Ujian Daring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PENGUMPULAN TUGAS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Pengumpulan Tugas Kuliah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Buka item tugas pada pertemuan terkait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Perhatikan Due Date &amp; Cut-off Date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Unggah berkas dokumen (PDF, DOCX, ZIP)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Dukungan tautan Google Drive / GitHub jika diminta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Dapat memperbarui berkas sebelum batas waktu berakhir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Lihat nilai &amp; catatan koreksi dosen di halaman tugas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UJIAN ONLINE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Mengerjakan Kuis &amp; Ujian (UTS/UAS)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Fitur Auto-Save: Jawaban tersimpan otomatis di server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Aman dari gangguan koneksi internet sementara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Penghitung waktu mundur (Timer) di sudut layar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Navigasi nomor soal untuk cek jawaban belum terisi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Klik 'Kumpulkan &amp; Selesaikan' setelah selesai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Nilai instan atau diumumkan sesuai jadwal dosen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REGULASI AKADEMIK UAY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Ketentuan Wajib Kehadiran Minimal 75%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C2626"/>
                </a:solidFill>
              </a:defRPr>
            </a:pPr>
            <a:r>
              <a:t>KETENTUAN POKOK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Aturan Kelayakan Ujian (UTS/UAS)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Wajib hadir minimal 75% dari total pertemuan tatap muka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Ketidakhadiran alfa maksimal 25% (sekitar 3-4 pertemuan)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Mahasiswa &lt; 75% TIDAK BERHAK mengikuti UTS / UAS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Sistem otomatis memberikan lencana status kelayakan: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Lencana Hijau: Memenuhi Syarat Ujian (&gt;= 75%)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Lencana Merah: Peringatan Belum Memenuhi Syarat (&lt; 75%)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DISPENSASI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Prosedur Izin &amp; Sakit Resmi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Jika sakit atau izin dinas universitas: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1. Serahkan surat keterangan dokter / dinas ke dosen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2. Dosen mencatat di Roster Manual beserta nomor surat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3. Status Sakit/Izin resmi diakui dalam persentase kelayakan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4. Cek berkala tab Presensi Anda untuk memastikan pembaruan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Segera hubungi dosen pengampu jika status Anda merah!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KEBIJAKAN PENILAIAN UAY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Standar Skala Penilaian Huruf Mutu Institusi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RENTANG SKOR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Tabel Rentang Huruf Mutu (Preset 2026.1)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Nilai &gt;= 85.00  :  A   (Bobot 4.00) - Istimewa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80.00 - 84.99   :  A-  (Bobot 3.75) - Sangat Baik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75.00 - 79.99   :  B+  (Bobot 3.50) - Baik Sekali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70.00 - 74.99   :  B   (Bobot 3.00) - Baik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65.00 - 69.99   :  B-  (Bobot 2.75) - Cukup Baik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60.00 - 64.99   :  C+  (Bobot 2.50) - Cukup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55.00 - 59.99   :  C   (Bobot 2.00) - Batas Lulus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45.00 - 54.99   :  D   (Bobot 1.00) - Kurang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• &lt; 45.00         :  E   (Bobot 0.00) - Mengulang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FORMULA NILAI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Rumus Nilai Akhir Semester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Kalkulasi otomatis oleh E-Learning: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Nilai Akhir = Σ (Bobot Kategori x Rata-rata Skor)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Total seluruh bobot kategori wajib tepat 100%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Komponen dinilai secara transparan: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Kehadiran + Tugas/Praktikum + Kuis + UTS + UAS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Nilai dapat dipantau langsung mahasiswa di tab Nilai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TANYA JAWAB CEPAT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Pertanyaan Umum &amp; Solusi Pemecahan Masalah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66534"/>
                </a:solidFill>
              </a:defRPr>
            </a:pPr>
            <a:r>
              <a:t>PRESENSI &amp; MATERI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Kendala Presensi &amp; Materi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Q: Kode presensi ditolak / kadaluarsa?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A: Pastikan jam gawai sinkron internet. Minta dosen catat di Roster manual jika sesi ditutup.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Q: Tombol unduh materi abu-abu?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A: Tonton video / baca dokumen hingga 100%. Tombol unduh otomatis aktif setelah syarat terpenuhi.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57200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AKUN &amp; EVALUASI</a:t>
            </a:r>
          </a:p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Kendala Akun &amp; Ujian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Q: Lupa kata sandi login?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A: Buka sso.uay.ac.id -&gt; klik Lupa Kata Sandi atau email ke sso-admin@uay.ac.id.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Q: Internet putus saat kuis online?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A: Jawaban Anda auto-save. Cukup refresh browser saat internet kembali menyala dan lanjutkan kuis.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PUSAT BANTUAN &amp; HELPDESK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Layanan Terpadu &amp; Sesi Tanya Jawab (Q&amp;A)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2C55E"/>
                </a:solidFill>
              </a:defRPr>
            </a:pPr>
            <a:r>
              <a:t>HELPDESK TIK</a:t>
            </a:r>
          </a:p>
          <a:p>
            <a:pPr>
              <a:spcAft>
                <a:spcPts val="800"/>
              </a:spcAft>
              <a:defRPr sz="1500" b="1">
                <a:solidFill>
                  <a:srgbClr val="F8FAFC"/>
                </a:solidFill>
              </a:defRPr>
            </a:pPr>
            <a:r>
              <a:t>Saluran Bantuan Resmi UAY</a:t>
            </a:r>
          </a:p>
          <a:p>
            <a:pPr>
              <a:spcAft>
                <a:spcPts val="400"/>
              </a:spcAft>
              <a:defRPr sz="1100">
                <a:solidFill>
                  <a:srgbClr val="CBD5E1"/>
                </a:solidFill>
              </a:defRPr>
            </a:pPr>
            <a:r>
              <a:t>•  Helpdesk Akademik E-Learning:</a:t>
            </a:r>
          </a:p>
          <a:p>
            <a:pPr>
              <a:spcAft>
                <a:spcPts val="400"/>
              </a:spcAft>
              <a:defRPr sz="1100">
                <a:solidFill>
                  <a:srgbClr val="CBD5E1"/>
                </a:solidFill>
              </a:defRPr>
            </a:pPr>
            <a:r>
              <a:t>•  • Email: elearning-support@uay.ac.id</a:t>
            </a:r>
          </a:p>
          <a:p>
            <a:pPr>
              <a:spcAft>
                <a:spcPts val="400"/>
              </a:spcAft>
              <a:defRPr sz="1100">
                <a:solidFill>
                  <a:srgbClr val="CBD5E1"/>
                </a:solidFill>
              </a:defRPr>
            </a:pPr>
            <a:r>
              <a:t>•  • Jam Layanan: Senin – Jumat (08.00 – 16.00 WITA)</a:t>
            </a:r>
          </a:p>
          <a:p>
            <a:pPr>
              <a:spcAft>
                <a:spcPts val="400"/>
              </a:spcAft>
              <a:defRPr sz="1100">
                <a:solidFill>
                  <a:srgbClr val="CBD5E1"/>
                </a:solidFill>
              </a:defRPr>
            </a:pPr>
            <a:r>
              <a:t>•  </a:t>
            </a:r>
          </a:p>
          <a:p>
            <a:pPr>
              <a:spcAft>
                <a:spcPts val="400"/>
              </a:spcAft>
              <a:defRPr sz="1100">
                <a:solidFill>
                  <a:srgbClr val="CBD5E1"/>
                </a:solidFill>
              </a:defRPr>
            </a:pPr>
            <a:r>
              <a:t>•  Layanan Akun &amp; SSO Kampus:</a:t>
            </a:r>
          </a:p>
          <a:p>
            <a:pPr>
              <a:spcAft>
                <a:spcPts val="400"/>
              </a:spcAft>
              <a:defRPr sz="1100">
                <a:solidFill>
                  <a:srgbClr val="CBD5E1"/>
                </a:solidFill>
              </a:defRPr>
            </a:pPr>
            <a:r>
              <a:t>•  • Email: sso-admin@uay.ac.id</a:t>
            </a:r>
          </a:p>
          <a:p>
            <a:pPr>
              <a:spcAft>
                <a:spcPts val="400"/>
              </a:spcAft>
              <a:defRPr sz="1100">
                <a:solidFill>
                  <a:srgbClr val="CBD5E1"/>
                </a:solidFill>
              </a:defRPr>
            </a:pPr>
            <a:r>
              <a:t>•  </a:t>
            </a:r>
          </a:p>
          <a:p>
            <a:pPr>
              <a:spcAft>
                <a:spcPts val="400"/>
              </a:spcAft>
              <a:defRPr sz="1100">
                <a:solidFill>
                  <a:srgbClr val="CBD5E1"/>
                </a:solidFill>
              </a:defRPr>
            </a:pPr>
            <a:r>
              <a:t>•  Layanan Fisik TIK:</a:t>
            </a:r>
          </a:p>
          <a:p>
            <a:pPr>
              <a:spcAft>
                <a:spcPts val="400"/>
              </a:spcAft>
              <a:defRPr sz="1100">
                <a:solidFill>
                  <a:srgbClr val="CBD5E1"/>
                </a:solidFill>
              </a:defRPr>
            </a:pPr>
            <a:r>
              <a:t>•  • Gedung Rektorat UAY Lantai 2, Kampus Terpadu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57200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TERIMA KASIH</a:t>
            </a:r>
          </a:p>
          <a:p>
            <a:pPr>
              <a:spcAft>
                <a:spcPts val="800"/>
              </a:spcAft>
              <a:defRPr sz="1500" b="1">
                <a:solidFill>
                  <a:srgbClr val="F8FAFC"/>
                </a:solidFill>
              </a:defRPr>
            </a:pPr>
            <a:r>
              <a:t>Pusat Bantuan Mandiri (Help Center)</a:t>
            </a:r>
          </a:p>
          <a:p>
            <a:pPr>
              <a:spcAft>
                <a:spcPts val="400"/>
              </a:spcAft>
              <a:defRPr sz="1100">
                <a:solidFill>
                  <a:srgbClr val="CBD5E1"/>
                </a:solidFill>
              </a:defRPr>
            </a:pPr>
            <a:r>
              <a:t>•  Akses langsung melalui menu Bantuan (/help)</a:t>
            </a:r>
          </a:p>
          <a:p>
            <a:pPr>
              <a:spcAft>
                <a:spcPts val="400"/>
              </a:spcAft>
              <a:defRPr sz="1100">
                <a:solidFill>
                  <a:srgbClr val="CBD5E1"/>
                </a:solidFill>
              </a:defRPr>
            </a:pPr>
            <a:r>
              <a:t>•  Menyediakan lebih dari 50 Artikel Panduan Mandiri</a:t>
            </a:r>
          </a:p>
          <a:p>
            <a:pPr>
              <a:spcAft>
                <a:spcPts val="400"/>
              </a:spcAft>
              <a:defRPr sz="1100">
                <a:solidFill>
                  <a:srgbClr val="CBD5E1"/>
                </a:solidFill>
              </a:defRPr>
            </a:pPr>
            <a:r>
              <a:t>•  Pencarian cerdas solusi kendala teknis</a:t>
            </a:r>
          </a:p>
          <a:p>
            <a:pPr>
              <a:spcAft>
                <a:spcPts val="400"/>
              </a:spcAft>
              <a:defRPr sz="1100">
                <a:solidFill>
                  <a:srgbClr val="CBD5E1"/>
                </a:solidFill>
              </a:defRPr>
            </a:pPr>
            <a:r>
              <a:t>•  </a:t>
            </a:r>
          </a:p>
          <a:p>
            <a:pPr>
              <a:spcAft>
                <a:spcPts val="400"/>
              </a:spcAft>
              <a:defRPr sz="1100">
                <a:solidFill>
                  <a:srgbClr val="CBD5E1"/>
                </a:solidFill>
              </a:defRPr>
            </a:pPr>
            <a:r>
              <a:t>•  MARI SUKSESKAN PEMBELAJARAN DIGITAL UAY!</a:t>
            </a:r>
          </a:p>
          <a:p>
            <a:pPr>
              <a:spcAft>
                <a:spcPts val="400"/>
              </a:spcAft>
              <a:defRPr sz="1100">
                <a:solidFill>
                  <a:srgbClr val="CBD5E1"/>
                </a:solidFill>
              </a:defRPr>
            </a:pPr>
            <a:r>
              <a:t>•  Terima Kasih atas Partisipasi Bapak/Ibu &amp; Mahasiswa</a:t>
            </a:r>
          </a:p>
          <a:p>
            <a:pPr>
              <a:spcAft>
                <a:spcPts val="400"/>
              </a:spcAft>
              <a:defRPr sz="1100">
                <a:solidFill>
                  <a:srgbClr val="CBD5E1"/>
                </a:solidFill>
              </a:defRPr>
            </a:pPr>
            <a:r>
              <a:t>•  Sesi Pertanyaan &amp; Diskusi Dibuka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